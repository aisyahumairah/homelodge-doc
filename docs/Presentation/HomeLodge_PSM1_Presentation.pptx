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8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3524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0"/>
            <a:ext cx="2743200" cy="2743200"/>
          </a:xfrm>
          <a:prstGeom prst="ellipse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4206240"/>
            <a:ext cx="1645920" cy="1645920"/>
          </a:xfrm>
          <a:prstGeom prst="ellipse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HomeLodge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BCCFF"/>
                </a:solidFill>
              </a:rPr>
              <a:t>A Web-Based Homestay Booking
Management System for Multi-Unit Operators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41148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Student: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572000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Y" sz="1300" b="0" i="0" dirty="0">
                <a:solidFill>
                  <a:srgbClr val="FFFFFF"/>
                </a:solidFill>
              </a:rPr>
              <a:t>AISYAH UMAIRAH BINTI AZMIR</a:t>
            </a:r>
            <a:endParaRPr sz="1300" b="0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50474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Supervisor: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047488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Y" sz="1300" b="0" i="0" dirty="0">
                <a:solidFill>
                  <a:srgbClr val="FFFFFF"/>
                </a:solidFill>
              </a:rPr>
              <a:t>DR. ZALMIYAH BINTI ZAKARIA</a:t>
            </a:r>
            <a:endParaRPr sz="1300" b="0" i="0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52297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Programme: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52297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Bachelor of Software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9846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Session: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99846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2025 /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02  |  Project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BCCFF"/>
                </a:solidFill>
              </a:rPr>
              <a:t>When one homestay is fine. Three or more — that's where things break.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84048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651000"/>
            <a:ext cx="3694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00200"/>
            <a:ext cx="694944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9392" y="1651000"/>
            <a:ext cx="6803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What Goes Wrong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3840480" cy="68580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2108200"/>
            <a:ext cx="36941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shared availability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057400"/>
            <a:ext cx="6949440" cy="68580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2108200"/>
            <a:ext cx="6803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Two guests book the same 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0632"/>
            <a:ext cx="3840480" cy="685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2821432"/>
            <a:ext cx="36941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Manual payment 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770632"/>
            <a:ext cx="6949440" cy="685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9392" y="2821432"/>
            <a:ext cx="6803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receipts, no consistent refund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83864"/>
            <a:ext cx="3840480" cy="68580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3534664"/>
            <a:ext cx="36941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Physical key handover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483864"/>
            <a:ext cx="6949440" cy="68580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9392" y="3534664"/>
            <a:ext cx="6803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Operator must be present at every check-in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97096"/>
            <a:ext cx="3840480" cy="685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4247896"/>
            <a:ext cx="36941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Scattered chat threads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197096"/>
            <a:ext cx="6949440" cy="685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79392" y="4247896"/>
            <a:ext cx="6803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link between conversation and booking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10328"/>
            <a:ext cx="3840480" cy="68580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4961128"/>
            <a:ext cx="36941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Manual reminders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910328"/>
            <a:ext cx="6949440" cy="68580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9392" y="4961128"/>
            <a:ext cx="6803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Missed notifications, lapsed bookings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</a:rPr>
              <a:t>HomeLodge  |  PSM 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03  |  Project 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210312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To develop a web-based homestay booking management system that handles reservations, payment, property access, and guest communication — all in one place — for operators managing multiple homestay units.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1124712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C518"/>
                </a:solidFill>
              </a:rPr>
              <a:t>Not another marketplace.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CCFF"/>
                </a:solidFill>
              </a:rPr>
              <a:t>A private management tool that the operator owns, configures, and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3657600" cy="1554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No commission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77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Zero per-booking marketplace fees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5029200"/>
            <a:ext cx="3657600" cy="1554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5120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Full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577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Operator owns the system and all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5029200"/>
            <a:ext cx="3657600" cy="1554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5120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Private listing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577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mandatory public marketplace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</a:rPr>
              <a:t>HomeLodge  |  PSM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04  | 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669280" cy="210312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1353312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8988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Study &amp; 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Gather and document all functional and non-functional requirements for HomeLodge.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669280" cy="210312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0" y="1353312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38988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371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Produce the system architecture, database schema, and UI covering all modules and both user roles.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74720"/>
            <a:ext cx="5669280" cy="210312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3639312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367588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57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Develop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Build the HomeLodge web application with 11 functional modules as defined by the requirements.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474720"/>
            <a:ext cx="5669280" cy="210312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0" y="3639312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367588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657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Verify correctness, security, and usability against the stated requirements.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852160"/>
            <a:ext cx="12188952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89788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11 Modules:  Authentication · Homestay Management · Booking · Payment · Notification · Chat · User Management · Role &amp; Permission · System Settings · Audit Logs · QR Code Door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</a:rPr>
              <a:t>HomeLodge  |  PSM 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05  |  Background Study — Why Existing Systems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38912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193800"/>
            <a:ext cx="4242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143000"/>
            <a:ext cx="169164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1193800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Airbnb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43000"/>
            <a:ext cx="169164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193800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Booking.com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43000"/>
            <a:ext cx="169164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2" y="1193800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Agoda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1143000"/>
            <a:ext cx="242316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11512" y="1193800"/>
            <a:ext cx="2276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HomeLodge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45920"/>
            <a:ext cx="438912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67132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Online availability calendar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64592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67132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64592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67132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64592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167132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8360" y="164592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8360" y="167132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194560"/>
            <a:ext cx="438912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21996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Online payment processing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19456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221996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19456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21996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19456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0" y="221996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38360" y="219456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221996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43200"/>
            <a:ext cx="438912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276860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In-app guest-to-host messaging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74320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63440" y="276860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74320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276860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274320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0" y="276860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38360" y="274320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38360" y="276860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291840"/>
            <a:ext cx="438912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331724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QR code door access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329184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63440" y="331724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29184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5080" y="331724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329184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46720" y="331724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38360" y="329184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38360" y="33172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840480"/>
            <a:ext cx="438912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386588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Booking extension management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384048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63440" y="386588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384048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55080" y="386588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84048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46720" y="386588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38360" y="384048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38360" y="386588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389120"/>
            <a:ext cx="438912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441452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Role-based access control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438912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663440" y="441452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438912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55080" y="441452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438912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46720" y="441452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38360" y="438912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738360" y="441452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937760"/>
            <a:ext cx="438912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5760" y="496316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Private, non-marketplace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493776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63440" y="496316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55080" y="493776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55080" y="496316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493776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046720" y="496316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38360" y="493776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738360" y="496316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5486400"/>
            <a:ext cx="438912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65760" y="551180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Immutable audit log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63440" y="548640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663440" y="551180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55080" y="548640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355080" y="551180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46720" y="5486400"/>
            <a:ext cx="16916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046720" y="551180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38360" y="548640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738360" y="551180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6035040"/>
            <a:ext cx="438912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65760" y="6060440"/>
            <a:ext cx="4251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per-booking commission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63440" y="603504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663440" y="606044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55080" y="603504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55080" y="606044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46720" y="6035040"/>
            <a:ext cx="1691640" cy="53035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046720" y="6060440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555"/>
                </a:solidFill>
              </a:rPr>
              <a:t>✗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738360" y="6035040"/>
            <a:ext cx="2423160" cy="530352"/>
          </a:xfrm>
          <a:prstGeom prst="rect">
            <a:avLst/>
          </a:prstGeom>
          <a:solidFill>
            <a:srgbClr val="0A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738360" y="60604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432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All three platforms solve the basics. None give operators a private, controllable system.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</a:rPr>
              <a:t>HomeLodge  |  PSM 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06  |  Development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98448" y="1993392"/>
            <a:ext cx="54864" cy="2743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234440"/>
            <a:ext cx="749808" cy="74980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749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188720"/>
            <a:ext cx="10058400" cy="86868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12618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Requirements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35024"/>
            <a:ext cx="2651760" cy="502920"/>
          </a:xfrm>
          <a:prstGeom prst="rect">
            <a:avLst/>
          </a:prstGeom>
          <a:solidFill>
            <a:srgbClr val="1A356E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3533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Waterfall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2801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Gathered, documented, and froze all requirements before writing any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3054096"/>
            <a:ext cx="54864" cy="2743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2295144"/>
            <a:ext cx="749808" cy="74980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359152"/>
            <a:ext cx="749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2249424"/>
            <a:ext cx="10058400" cy="86868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232257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395728"/>
            <a:ext cx="2651760" cy="502920"/>
          </a:xfrm>
          <a:prstGeom prst="rect">
            <a:avLst/>
          </a:prstGeom>
          <a:solidFill>
            <a:srgbClr val="1A356E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4140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Waterfall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340864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Produced ER diagram, use case model, and UI wireframes — complete before coding.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8448" y="4114800"/>
            <a:ext cx="54864" cy="2743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3355848"/>
            <a:ext cx="749808" cy="74980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419856"/>
            <a:ext cx="749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3310128"/>
            <a:ext cx="10058400" cy="86868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456432"/>
            <a:ext cx="2651760" cy="502920"/>
          </a:xfrm>
          <a:prstGeom prst="rect">
            <a:avLst/>
          </a:prstGeom>
          <a:solidFill>
            <a:srgbClr val="1A356E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Agile (Scrum + Kanban)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401568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 modules built in time-boxed sprints; progress tracked per task on Kanban Board.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98448" y="5175504"/>
            <a:ext cx="54864" cy="2743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14400" y="4416552"/>
            <a:ext cx="749808" cy="74980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749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370832"/>
            <a:ext cx="10058400" cy="86868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444398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17136"/>
            <a:ext cx="2651760" cy="502920"/>
          </a:xfrm>
          <a:prstGeom prst="rect">
            <a:avLst/>
          </a:prstGeom>
          <a:solidFill>
            <a:srgbClr val="1A356E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45354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Agile (Scrum + Kanban)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462272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Each module tested immediately after completion; defects fixed within the same sprint.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5477256"/>
            <a:ext cx="749808" cy="74980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41264"/>
            <a:ext cx="749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5431536"/>
            <a:ext cx="10058400" cy="86868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11680" y="550468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577840"/>
            <a:ext cx="2651760" cy="502920"/>
          </a:xfrm>
          <a:prstGeom prst="rect">
            <a:avLst/>
          </a:prstGeom>
          <a:solidFill>
            <a:srgbClr val="1A356E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55961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Waterfall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522976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Sequential checklist: Nginx, PHP-FPM, MySQL, Redis, SSL — all phases already done.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400800"/>
            <a:ext cx="11640312" cy="3383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64190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Why hybrid?  Waterfall → formal PSM documentation required.  Agile → 11 modules need incremental, trackable delivery.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</a:rPr>
              <a:t>HomeLodge  |  PSM 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07  |  System Requirements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Hardware (Development)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03520" cy="521207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51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1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Intel Core i5, 8 GB 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67128"/>
            <a:ext cx="5303520" cy="521207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2179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2179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256 GB SSD minimum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34056"/>
            <a:ext cx="5303520" cy="521207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84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848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Broadband, min. 10 Mbps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00984"/>
            <a:ext cx="5303520" cy="521207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3517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35178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 vCPU, 4 GB RAM, 20 GB SSD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Technology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00200"/>
            <a:ext cx="5669280" cy="62179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651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651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Laravel 11  ·  PHP 8.2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258568"/>
            <a:ext cx="566928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23093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30936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Blade  ·  Alpine.js  ·  Bootstrap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16936"/>
            <a:ext cx="5669280" cy="62179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96773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9677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MySQL 8  ·  Eloquent 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575304"/>
            <a:ext cx="566928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3626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Real-time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62610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Laravel Reverb (WebSocket)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233672"/>
            <a:ext cx="5669280" cy="62179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4284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Auth / RBAC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2844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laravel/socialite  ·  spatie/laravel-permission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92040"/>
            <a:ext cx="566928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4942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QR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942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simplesoftwareio/simple-qrcode (local)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550408"/>
            <a:ext cx="5669280" cy="621792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56012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Payment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6012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Billplz / Toyyibpay / Stripe (webhook)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</a:rPr>
              <a:t>HomeLodge  |  PSM 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08  |  PSM I Results — Analysis &amp; Design Completed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260604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Use Case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394960" cy="1905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4 Actors: Guest, Admin, Payment Gateway, Google Calendar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677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12 Modules  ·  47 Use Cases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523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All use cases traced to URS and PRD requirements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669280" cy="260604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System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5394960" cy="1905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Client: Blade + Alpine.js + Bootstrap 5 + Laravel Echo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677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Server: Nginx → PHP-FPM → Laravel 11 + Reverb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523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Data: MySQL 8 (primary)  ·  Redis 7 (cache / queues)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3697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External: Payment Gateway, Google OAuth + Calendar, SMTP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77639"/>
            <a:ext cx="5669280" cy="260604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40690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Database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26279"/>
            <a:ext cx="5394960" cy="1905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61771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16 tables with foreign key constraints and soft deletes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02351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Key tables: bookings, booking_extensions, payments, qr_codes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86983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settings table: key-value model, no schema change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071615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Idempotent webhook handling via unique gateway_reference 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977639"/>
            <a:ext cx="5669280" cy="260604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40690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User Interface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526279"/>
            <a:ext cx="5394960" cy="1905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461771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Guest: top navbar, linear booking flow (browse → book → pay → QR)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02351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Admin: fixed left sidebar, 10 navigation groups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586983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Responsive: mobile / tablet / desktop breakpoints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6071615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Design: Inter font, 8px grid, colour-coded booking status badges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</a:rPr>
              <a:t>HomeLodge  |  PSM 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09  | 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Problems Identified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03520" cy="59436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63700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✗  Double-bookings from manually tracking availability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58568"/>
            <a:ext cx="5303520" cy="59436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22068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✗  Unstructured payment with no consistent refund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16936"/>
            <a:ext cx="5303520" cy="59436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980436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✗  Physical key handover requiring operator presence at every check-in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75304"/>
            <a:ext cx="5303520" cy="594360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638804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✗  Communication scattered across personal chats with no booking link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143000"/>
            <a:ext cx="54864" cy="5212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PSM I Delivered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00200"/>
            <a:ext cx="5760720" cy="566928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663700"/>
            <a:ext cx="5532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DE80"/>
                </a:solidFill>
              </a:rPr>
              <a:t>✓  Complete requirements spec (URS + PRD)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221992"/>
            <a:ext cx="5760720" cy="566928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285492"/>
            <a:ext cx="5532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DE80"/>
                </a:solidFill>
              </a:rPr>
              <a:t>✓  Full system design: architecture, ER diagram, UI wireframes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843784"/>
            <a:ext cx="5760720" cy="566928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2907284"/>
            <a:ext cx="5532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DE80"/>
                </a:solidFill>
              </a:rPr>
              <a:t>✓  47 use cases across 12 modules documented and traced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465576"/>
            <a:ext cx="5760720" cy="566928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529076"/>
            <a:ext cx="5532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DE80"/>
                </a:solidFill>
              </a:rPr>
              <a:t>✓  Hybrid methodology selected and justified (Waterfall + Agile)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087368"/>
            <a:ext cx="5760720" cy="566928"/>
          </a:xfrm>
          <a:prstGeom prst="rect">
            <a:avLst/>
          </a:prstGeom>
          <a:solidFill>
            <a:srgbClr val="14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4150868"/>
            <a:ext cx="5532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DE80"/>
                </a:solidFill>
              </a:rPr>
              <a:t>✓  Technology stack selected and compared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897880"/>
            <a:ext cx="12188952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5943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PSM II Plan: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Implement 11 modules  ·  Integrate payment gateway, WebSocket chat, QR door access  ·  Unit, integration &amp; UAT testing  ·  Deploy on Nginx + MySQL + 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</a:rPr>
              <a:t>HomeLodge  |  PSM 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502920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BCCFF"/>
                </a:solidFill>
              </a:rPr>
              <a:t>Open for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HomeLodge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Web-Based Homestay Booking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Student: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8348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Y" sz="1400" b="0" i="0" dirty="0">
                <a:solidFill>
                  <a:srgbClr val="FFFFFF"/>
                </a:solidFill>
              </a:rPr>
              <a:t>AISYAH UMAIRAH BINTI AZMIR</a:t>
            </a:r>
            <a:endParaRPr sz="1400" b="0" i="0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Supervisor: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48640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Y" sz="1400" b="0" i="0" dirty="0">
                <a:solidFill>
                  <a:srgbClr val="FFFFFF"/>
                </a:solidFill>
              </a:rPr>
              <a:t>DR. ZALMIYAH BINTI ZAKARIA</a:t>
            </a:r>
            <a:endParaRPr sz="1400" b="0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Session: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989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2025 /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645920"/>
            <a:ext cx="2103120" cy="1920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1828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C518"/>
                </a:solidFill>
              </a:rP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880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Use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645920"/>
            <a:ext cx="2103120" cy="1920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1828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C518"/>
                </a:solidFill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880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Modules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3931920"/>
            <a:ext cx="2103120" cy="1920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4114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C518"/>
                </a:solidFill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5166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DB Tables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3931920"/>
            <a:ext cx="2103120" cy="1920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0" y="41148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C518"/>
                </a:solidFill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166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Functional
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FF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1050</Words>
  <Application>Microsoft Office PowerPoint</Application>
  <PresentationFormat>Custom</PresentationFormat>
  <Paragraphs>218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Aisyah Umairah</cp:lastModifiedBy>
  <cp:revision>3</cp:revision>
  <dcterms:created xsi:type="dcterms:W3CDTF">2013-01-27T09:14:16Z</dcterms:created>
  <dcterms:modified xsi:type="dcterms:W3CDTF">2026-06-21T12:18:00Z</dcterms:modified>
  <cp:category/>
</cp:coreProperties>
</file>