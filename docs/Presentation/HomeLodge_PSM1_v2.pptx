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2" r:id="rId6"/>
    <p:sldId id="264" r:id="rId7"/>
    <p:sldId id="265" r:id="rId8"/>
    <p:sldId id="267" r:id="rId9"/>
    <p:sldId id="271" r:id="rId10"/>
    <p:sldId id="280" r:id="rId11"/>
    <p:sldId id="281" r:id="rId12"/>
    <p:sldId id="282" r:id="rId13"/>
    <p:sldId id="274" r:id="rId14"/>
    <p:sldId id="275" r:id="rId15"/>
    <p:sldId id="284" r:id="rId16"/>
    <p:sldId id="285" r:id="rId17"/>
    <p:sldId id="288" r:id="rId18"/>
    <p:sldId id="277" r:id="rId19"/>
    <p:sldId id="278" r:id="rId20"/>
    <p:sldId id="279" r:id="rId21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4" autoAdjust="0"/>
    <p:restoredTop sz="79895"/>
  </p:normalViewPr>
  <p:slideViewPr>
    <p:cSldViewPr snapToGrid="0">
      <p:cViewPr varScale="1">
        <p:scale>
          <a:sx n="52" d="100"/>
          <a:sy n="52" d="100"/>
        </p:scale>
        <p:origin x="1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81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B7E44A-2796-A448-A809-412E42B600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D0B0C-895D-A741-978A-D94F3E85C7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9FAA01A3-E2E1-B046-AD82-0E423908EC68}" type="datetimeFigureOut">
              <a:rPr lang="en-US"/>
              <a:pPr>
                <a:defRPr/>
              </a:pPr>
              <a:t>6/22/2026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B6C77B0-BE65-E840-BD25-F6DD6FEF6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F85A73-6438-8542-8FBD-99F8E29AC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ED693-5682-6C4D-A42E-2244674AB8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85578-F1BD-7941-BDE9-F4AFC97FF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C865439-731A-7A44-BC47-F5EBE1510B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C15DD3AA-88EC-1E45-AEB7-6D8E0B530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62BF1496-0106-BF45-8AE4-763C5BD53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spcBef>
                <a:spcPct val="0"/>
              </a:spcBef>
              <a:buFontTx/>
              <a:buChar char="-"/>
            </a:pPr>
            <a:endParaRPr lang="en-MY" altLang="en-US"/>
          </a:p>
          <a:p>
            <a:pPr marL="171450" indent="-171450">
              <a:spcBef>
                <a:spcPct val="0"/>
              </a:spcBef>
              <a:buFontTx/>
              <a:buChar char="-"/>
            </a:pPr>
            <a:endParaRPr lang="en-US" altLang="en-US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7CE56603-3A71-D149-9D9C-CCAD445BD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D333FC-F065-FE49-B2C6-547829BD48B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865439-731A-7A44-BC47-F5EBE1510B5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8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6AC0B-CEC1-5345-876A-DA3DC6B9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C0560-C47C-6649-A12E-3B61E2D4AC28}" type="datetime1">
              <a:rPr lang="en-MY" smtClean="0"/>
              <a:t>22/6/2026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C5F9-FAAD-F34D-9EEC-B0A11EF1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D285A-88B7-B146-8870-D6DD87A8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E71BB-4771-2D48-AB27-A10F97466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50448-6B94-9B43-9D83-BCB85305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BF2F7-72DA-D747-B8E3-0EA76D888BAB}" type="datetime1">
              <a:rPr lang="en-MY" smtClean="0"/>
              <a:t>22/6/2026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8E41-FB79-FE47-9985-F5414D1E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3D7A-0FAB-A445-BAE2-746364BF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56E91-8DD8-CB4F-8717-4B202AE43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1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D33C3-1668-A04F-B5A8-C21BB860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E889F-53E1-B545-9BD4-B54B4CB290E9}" type="datetime1">
              <a:rPr lang="en-MY" smtClean="0"/>
              <a:t>22/6/2026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31D2-40B2-C54F-BB66-0AB8D3B7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E9B50-0BA5-794E-B8E8-52130E50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BDD11-724A-5046-8BCE-B9FD25C546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EEB2CA-8169-2E4E-961B-5C1ED76B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758F0-DD9C-DB4C-9D47-C6DB0997BFF3}" type="datetime1">
              <a:rPr lang="en-MY" smtClean="0"/>
              <a:t>22/6/2026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E3DCFA-416C-9D44-9C80-AAC2CE1E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16D591-BFA3-5643-AD0D-EB3EDBDD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BE0FF-A216-0448-A827-D0BB2196D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9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46C6C9-C791-674E-90BB-7775FE4D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DDAF6-77E1-7349-A6ED-8CDFDF897AA0}" type="datetime1">
              <a:rPr lang="en-MY" smtClean="0"/>
              <a:t>22/6/2026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BCB82E-8DC9-3B4B-90EB-889151BE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E2525A6-56CB-9149-8413-7D83EB41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79067-BE0E-0345-90AD-DC8C760A3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1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06B86C-1B9E-3948-8146-1C5BE6CB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3CEE9-EB33-EC41-9BE7-9AD06B9644EA}" type="datetime1">
              <a:rPr lang="en-MY" smtClean="0"/>
              <a:t>22/6/2026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4FAE20-F8A1-484C-928D-9784A644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84461D-789D-4C47-AD9C-DFD01102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8DB84-4DED-574E-B8E4-3F62E3CFD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7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A96D05-CF38-6F41-ABDF-4511A36E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3F7A2-C409-4A43-9248-8DFB2845E2C3}" type="datetime1">
              <a:rPr lang="en-MY" smtClean="0"/>
              <a:t>22/6/2026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3B3C67-DBEB-1E42-A864-A4885B80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0FC28E-8DD6-4D4A-AA99-61EBE843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E59FC-1298-EB48-9193-89A3AB1F9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1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95F1F-147F-0146-9AD4-CEBB065A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F415CA-4A01-B646-8C87-EEEFB04FDF07}" type="datetime1">
              <a:rPr lang="en-MY" smtClean="0"/>
              <a:t>22/6/2026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625ED-7FFD-784A-97FB-FF5B81B1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E017A9-1445-A74F-A986-D9CF6799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B1E1-8AAA-A048-A58A-915E5D470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6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A4E43A-846E-B942-9D36-DEEEF1EF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CDF64-6863-294C-B462-A95E8C9370E9}" type="datetime1">
              <a:rPr lang="en-MY" smtClean="0"/>
              <a:t>22/6/2026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D1FB04-2A92-0440-97DF-A2BC564E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629B72-5AC0-4B40-9569-7C26EE68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FD989-200E-4E4E-A30B-7146FAF5C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8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377A8-0C7F-8848-AEB8-FE3FC16C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8D569-A937-8648-B8D6-74730EA915C9}" type="datetime1">
              <a:rPr lang="en-MY" smtClean="0"/>
              <a:t>22/6/2026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02E9-6F46-5146-BFE1-898EEEF3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C6634-31A6-BA43-A167-C2185C27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B8B50-3798-6547-8782-FF82EEC331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9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B8AA7-2DC4-1440-A066-0D77E577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BB068-DE33-B74A-B365-B349655278F8}" type="datetime1">
              <a:rPr lang="en-MY" smtClean="0"/>
              <a:t>22/6/2026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CC1DC-BD32-C443-BF96-C3C1BC89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4B762-B3DB-184D-90A3-5A361184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73BA1-5E39-EF4E-88CC-FB6A95F4D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9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FAC911FD-BA18-C646-ADFB-5026EBF4B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22685850-E511-8D48-A07B-FF9594A14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CC7FD0A6-ED8D-CC43-BC6A-C47DEAAA0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E8802-99DC-534A-AF29-EDC94B9CF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83816C-F657-6D44-B887-15F23335D6AD}" type="datetime1">
              <a:rPr lang="en-MY" smtClean="0"/>
              <a:t>22/6/2026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49D0C-EDAA-8140-A722-0AD968261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01A96-B640-9846-A96F-AD71468D6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2310" y="-82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71D3E"/>
                </a:solidFill>
                <a:latin typeface="+mn-lt"/>
              </a:defRPr>
            </a:lvl1pPr>
          </a:lstStyle>
          <a:p>
            <a:pPr>
              <a:defRPr/>
            </a:pPr>
            <a:fld id="{DB01B672-90C9-6D42-96F9-411D21DAAC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Box 1">
            <a:extLst>
              <a:ext uri="{FF2B5EF4-FFF2-40B4-BE49-F238E27FC236}">
                <a16:creationId xmlns:a16="http://schemas.microsoft.com/office/drawing/2014/main" id="{86C7DFAC-195D-0446-986C-82C7871E4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52563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 b="1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HOMESTAY BOOKING SYSTEM (</a:t>
            </a:r>
            <a:r>
              <a:rPr lang="en-US" altLang="en-US" sz="2400" b="1" dirty="0" err="1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HomeLodge</a:t>
            </a:r>
            <a:r>
              <a:rPr lang="en-US" altLang="en-US" sz="2400" b="1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</p:txBody>
      </p:sp>
      <p:sp>
        <p:nvSpPr>
          <p:cNvPr id="13314" name="TextBox 2">
            <a:extLst>
              <a:ext uri="{FF2B5EF4-FFF2-40B4-BE49-F238E27FC236}">
                <a16:creationId xmlns:a16="http://schemas.microsoft.com/office/drawing/2014/main" id="{70E4A7D5-0F76-3943-9045-4541793A4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20975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200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by</a:t>
            </a:r>
            <a:r>
              <a:rPr lang="en-US" altLang="en-US" sz="22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</a:p>
          <a:p>
            <a:pPr algn="ctr"/>
            <a:r>
              <a:rPr lang="en-US" altLang="en-US" sz="22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Aisyah Umairah binti </a:t>
            </a:r>
            <a:r>
              <a:rPr lang="en-US" altLang="en-US" sz="2200" dirty="0" err="1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Azmir</a:t>
            </a:r>
            <a:endParaRPr lang="en-US" altLang="en-US" sz="2200" dirty="0">
              <a:solidFill>
                <a:srgbClr val="76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1E9601D0-CB6A-1E4F-B8B2-CE13A7B31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30675"/>
            <a:ext cx="9144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200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Supervisor</a:t>
            </a:r>
            <a:r>
              <a:rPr lang="en-US" altLang="en-US" sz="22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</a:p>
          <a:p>
            <a:pPr algn="ctr"/>
            <a:r>
              <a:rPr lang="en-US" altLang="en-US" sz="22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Dr. </a:t>
            </a:r>
            <a:r>
              <a:rPr lang="en-US" altLang="en-US" sz="2200" dirty="0" err="1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Zalmiyah</a:t>
            </a:r>
            <a:r>
              <a:rPr lang="en-US" altLang="en-US" sz="22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binti Zakaria</a:t>
            </a:r>
          </a:p>
        </p:txBody>
      </p:sp>
      <p:sp>
        <p:nvSpPr>
          <p:cNvPr id="13316" name="TextBox 4">
            <a:extLst>
              <a:ext uri="{FF2B5EF4-FFF2-40B4-BE49-F238E27FC236}">
                <a16:creationId xmlns:a16="http://schemas.microsoft.com/office/drawing/2014/main" id="{3B48FD71-13F3-6A4E-91B9-E57EAC162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68950"/>
            <a:ext cx="9144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300"/>
              </a:spcBef>
            </a:pPr>
            <a:r>
              <a:rPr lang="en-MY" sz="2200" b="0" i="0" dirty="0">
                <a:solidFill>
                  <a:srgbClr val="000000"/>
                </a:solidFill>
              </a:rPr>
              <a:t>22 J</a:t>
            </a:r>
            <a:r>
              <a:rPr sz="2200" b="0" i="0" dirty="0" err="1">
                <a:solidFill>
                  <a:srgbClr val="000000"/>
                </a:solidFill>
              </a:rPr>
              <a:t>une</a:t>
            </a:r>
            <a:r>
              <a:rPr sz="2200" b="0" i="0" dirty="0">
                <a:solidFill>
                  <a:srgbClr val="000000"/>
                </a:solidFill>
              </a:rPr>
              <a:t>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4DA9A-068C-9E40-98C4-3AEA35814859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8FDE6F1A-F070-904E-B4ED-843E3C98B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10382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Presentation Outlines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1F0C4254-53AA-7E46-B78E-1422E41A4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2020888"/>
            <a:ext cx="7886700" cy="4351337"/>
          </a:xfrm>
        </p:spPr>
        <p:txBody>
          <a:bodyPr wrap="square"/>
          <a:lstStyle/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Introduction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Problem Background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Project Aim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Literature Reviews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Methodology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Software/Hardware Requirement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Initial Finding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PSM2 Planning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Conclusion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CFE253-B8E8-FC42-A9A5-48CFCA043C42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1DE300-5FE4-0F46-8A9A-E05592EB7A29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93AA8A-1194-EC41-BCE1-86F24309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91B6-C6CA-2F43-A3A6-A3BE653DD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1560" y="185610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800" b="0" i="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HomeLodge</a:t>
            </a: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 web-based homestay booking system.</a:t>
            </a:r>
          </a:p>
          <a:p>
            <a:pPr>
              <a:spcBef>
                <a:spcPts val="300"/>
              </a:spcBef>
            </a:pPr>
            <a:endParaRPr sz="1800" b="0" i="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Designed for operators managing more than one property who currently rely on messaging apps and phone calls with no formal system.</a:t>
            </a:r>
          </a:p>
          <a:p>
            <a:pPr>
              <a:spcBef>
                <a:spcPts val="300"/>
              </a:spcBef>
            </a:pPr>
            <a:endParaRPr sz="1800" b="0" i="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system covers:</a:t>
            </a:r>
          </a:p>
          <a:p>
            <a:pPr lvl="1"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Availability checking and booking submission</a:t>
            </a:r>
          </a:p>
          <a:p>
            <a:pPr lvl="1"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Online payment with automated billing and receipts</a:t>
            </a:r>
          </a:p>
          <a:p>
            <a:pPr lvl="1"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Time-limited QR code door access (no physical key handover needed)</a:t>
            </a:r>
          </a:p>
          <a:p>
            <a:pPr lvl="1"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Real-time chat between guest and admin via WebSocket</a:t>
            </a:r>
          </a:p>
          <a:p>
            <a:pPr lvl="1">
              <a:spcBef>
                <a:spcPts val="300"/>
              </a:spcBef>
            </a:pPr>
            <a:r>
              <a:rPr sz="1800" b="0" i="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Role-based access control and full immutable audit logging</a:t>
            </a:r>
          </a:p>
        </p:txBody>
      </p:sp>
      <p:sp>
        <p:nvSpPr>
          <p:cNvPr id="15362" name="Title 1">
            <a:extLst>
              <a:ext uri="{FF2B5EF4-FFF2-40B4-BE49-F238E27FC236}">
                <a16:creationId xmlns:a16="http://schemas.microsoft.com/office/drawing/2014/main" id="{B821BC73-4326-FA4E-B5A5-C0DE4763F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5363" name="Title 1">
            <a:extLst>
              <a:ext uri="{FF2B5EF4-FFF2-40B4-BE49-F238E27FC236}">
                <a16:creationId xmlns:a16="http://schemas.microsoft.com/office/drawing/2014/main" id="{84EA59EB-286E-4945-A337-0A66191B64C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 dirty="0">
                <a:solidFill>
                  <a:srgbClr val="761D3E"/>
                </a:solidFill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A2A141-956F-8741-B06B-A5460D51298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A2368-0C18-A740-8FE9-AE787CAF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3546AFB1-492A-D14E-AA25-4A1E470E9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6386" name="Title 1">
            <a:extLst>
              <a:ext uri="{FF2B5EF4-FFF2-40B4-BE49-F238E27FC236}">
                <a16:creationId xmlns:a16="http://schemas.microsoft.com/office/drawing/2014/main" id="{DAD6C38C-C5B5-B046-9015-1A16C624DCAC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(2) Problem Background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7079A8-6C75-8C46-8CCF-7614CF5CA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4351338"/>
          </a:xfrm>
        </p:spPr>
        <p:txBody>
          <a:bodyPr wrap="square"/>
          <a:lstStyle/>
          <a:p>
            <a:pPr marL="571500" indent="-571500" eaLnBrk="1" hangingPunct="1">
              <a:spcBef>
                <a:spcPts val="300"/>
              </a:spcBef>
              <a:spcAft>
                <a:spcPts val="1000"/>
              </a:spcAft>
              <a:buFont typeface="+mj-lt"/>
              <a:buAutoNum type="romanUcPeriod"/>
            </a:pPr>
            <a:r>
              <a:rPr sz="1600" b="0" i="0" dirty="0">
                <a:solidFill>
                  <a:srgbClr val="5555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Operators managing multiple units through informal channels face recurring failures:</a:t>
            </a: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Double-bookings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 shared availability record. Two guests can book the same dates on the same property.</a:t>
            </a: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Unstructured payment collection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 receipts, no consistent refund process; operators calculate everything manually.</a:t>
            </a: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Physical key handover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Operator must be physically present at each check-in. Impossible when multiple units have simultaneous arrivals.</a:t>
            </a: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Scattered communication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Confirmations and payment instructions buried in personal chat threads with no link to booking records.</a:t>
            </a: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Manual reminders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Easy to miss when managing several units; unpaid bookings can lapse unnoticed.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29DEE-EAD8-9F44-93D6-FFC4ED7E011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27FE25-539A-F947-B82D-30E4FF39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64BA058-4B5C-BF45-8C35-06C8E4F8A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7410" name="Title 1">
            <a:extLst>
              <a:ext uri="{FF2B5EF4-FFF2-40B4-BE49-F238E27FC236}">
                <a16:creationId xmlns:a16="http://schemas.microsoft.com/office/drawing/2014/main" id="{8ADA2FDD-AE3C-BE40-9FDD-724A82AD1D4E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(3) Project Aim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A829BA-98C3-6E4E-8DCE-808244566C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2348" y="2291535"/>
            <a:ext cx="7078662" cy="2611437"/>
          </a:xfrm>
        </p:spPr>
        <p:txBody>
          <a:bodyPr wrap="square"/>
          <a:lstStyle/>
          <a:p>
            <a:pPr marL="0" indent="0" eaLnBrk="1" hangingPunct="1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sz="1800" b="0" i="0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To develop </a:t>
            </a:r>
            <a:r>
              <a:rPr sz="1800" b="0" i="0" dirty="0" err="1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HomeLodge</a:t>
            </a:r>
            <a:r>
              <a:rPr sz="1800" b="0" i="0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a web-based homestay booking management system that </a:t>
            </a:r>
            <a:r>
              <a:rPr sz="1800" b="0" i="0" dirty="0" err="1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digitali</a:t>
            </a:r>
            <a:r>
              <a:rPr lang="en-MY" sz="1800" b="0" i="0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z</a:t>
            </a:r>
            <a:r>
              <a:rPr sz="1800" b="0" i="0" dirty="0">
                <a:solidFill>
                  <a:srgbClr val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es the reservation, payment, property access, and communication processes for operators managing multiple homestay units.</a:t>
            </a:r>
          </a:p>
          <a:p>
            <a:pPr>
              <a:spcBef>
                <a:spcPts val="300"/>
              </a:spcBef>
            </a:pPr>
            <a:endParaRPr sz="1800" b="0" i="0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spcBef>
                <a:spcPts val="300"/>
              </a:spcBef>
            </a:pPr>
            <a:r>
              <a:rPr sz="1800" b="1" i="0" dirty="0" err="1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HomeLodge</a:t>
            </a:r>
            <a:r>
              <a:rPr sz="18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not a marketplace.</a:t>
            </a:r>
          </a:p>
          <a:p>
            <a:pPr>
              <a:spcBef>
                <a:spcPts val="300"/>
              </a:spcBef>
            </a:pPr>
            <a:r>
              <a:rPr sz="18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It is a private management tool that the operator owns, configures, and controls — with no mandatory public listing and no per-booking commission.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32148-D9B0-4B4A-9A91-CDF128A2D29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6E1DB-EF1C-F94F-9EC2-BD5DE45F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8D139B23-5392-0546-835C-6A107585C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9458" name="Title 1">
            <a:extLst>
              <a:ext uri="{FF2B5EF4-FFF2-40B4-BE49-F238E27FC236}">
                <a16:creationId xmlns:a16="http://schemas.microsoft.com/office/drawing/2014/main" id="{A5F3F925-E333-5B4D-A620-E6DC1AA287FC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(3) Project Objectives &amp;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705781-23D9-274F-BA6A-7F5997EDA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5017" y="1807110"/>
            <a:ext cx="8119934" cy="3956050"/>
          </a:xfrm>
        </p:spPr>
        <p:txBody>
          <a:bodyPr wrap="square"/>
          <a:lstStyle/>
          <a:p>
            <a:pPr marL="400050" indent="-400050" eaLnBrk="1" hangingPunct="1">
              <a:spcBef>
                <a:spcPts val="300"/>
              </a:spcBef>
              <a:spcAft>
                <a:spcPts val="1000"/>
              </a:spcAft>
              <a:buFont typeface="+mj-lt"/>
              <a:buAutoNum type="romanUcPeriod"/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Objectives: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1. Study &amp; </a:t>
            </a:r>
            <a:r>
              <a:rPr sz="1600" b="0" i="0" dirty="0" err="1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Analyse</a:t>
            </a: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— gather and document all functional and non-functional requirements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2. Design — produce system architecture, database schema, and UI for all modules and both roles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3. Develop — build </a:t>
            </a:r>
            <a:r>
              <a:rPr sz="1600" b="0" i="0" dirty="0" err="1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HomeLodge</a:t>
            </a: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with 11 functional modules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4. Test — verify correctness, security, and usability against stated requirements</a:t>
            </a:r>
          </a:p>
          <a:p>
            <a:pPr>
              <a:spcBef>
                <a:spcPts val="300"/>
              </a:spcBef>
            </a:pPr>
            <a:endParaRPr sz="1600" b="0" i="0" dirty="0">
              <a:solidFill>
                <a:srgbClr val="1A1A1A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00050" indent="-400050">
              <a:spcBef>
                <a:spcPts val="300"/>
              </a:spcBef>
              <a:buFont typeface="+mj-lt"/>
              <a:buAutoNum type="romanUcPeriod"/>
            </a:pPr>
            <a:r>
              <a:rPr sz="1600" b="1" i="0" dirty="0">
                <a:solidFill>
                  <a:srgbClr val="761D3E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Scope: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Web-based application; two user roles: Guest and Admin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Operates in English only; multiple units under one administrator account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11 modules: Authentication, Homestay Management, Booking, Payment, Notification,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Chat, User Management, Role &amp; Permission, System Settings, Audit Logs, QR Code Door Access</a:t>
            </a:r>
          </a:p>
          <a:p>
            <a:pPr lvl="1">
              <a:spcBef>
                <a:spcPts val="300"/>
              </a:spcBef>
            </a:pPr>
            <a:r>
              <a:rPr sz="1600" b="0" i="0" dirty="0">
                <a:solidFill>
                  <a:srgbClr val="1A1A1A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QR code module designed for compatible smart lock devices; physical installation is outside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5ACF7-5323-7E45-BDEC-EFA9F59D796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707B6-E86A-4840-9D13-5BE9826A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097B3F9B-23D5-BB44-BA0B-FB90DBE4F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70729DE1-A37F-3F4C-BA99-32F0E779C64E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140793-8C31-2E4D-AA29-FB5EECF43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Airbnb is an online accommodation marketplace (founded 2008) connecting hosts with guests globally.</a:t>
            </a:r>
          </a:p>
          <a:p>
            <a:pPr>
              <a:spcBef>
                <a:spcPts val="300"/>
              </a:spcBef>
            </a:pPr>
            <a:endParaRPr sz="16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What it provides: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Centralised availability calendar, online payment processing, in-app messaging, host dashboard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What it lacks for independent operators: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QR code door access — physical key handover still required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booking extension management with a payment workflow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Mandatory public listing — operator cannot run private, direct bookings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Per-booking commission charged on every transaction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role-based access control or immutable audit log</a:t>
            </a:r>
          </a:p>
        </p:txBody>
      </p:sp>
      <p:sp>
        <p:nvSpPr>
          <p:cNvPr id="20485" name="Title 1">
            <a:extLst>
              <a:ext uri="{FF2B5EF4-FFF2-40B4-BE49-F238E27FC236}">
                <a16:creationId xmlns:a16="http://schemas.microsoft.com/office/drawing/2014/main" id="{0B501A74-7D8B-A14C-8A66-A575034CB864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(a) Airbnb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B9914-13B9-D145-9DB6-7C4F5A6C4AA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FEB48-E1A1-A245-905C-4681B06A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F54CF817-EF14-1F4B-88FD-5D18270E8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2530" name="Title 1">
            <a:extLst>
              <a:ext uri="{FF2B5EF4-FFF2-40B4-BE49-F238E27FC236}">
                <a16:creationId xmlns:a16="http://schemas.microsoft.com/office/drawing/2014/main" id="{97252585-5FE7-CB47-B476-08278FE232B5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25BD10-5F85-0243-A151-E57340000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Booking.com is a global OTA used by accommodation providers from large hotels to small guesthouses.</a:t>
            </a:r>
          </a:p>
          <a:p>
            <a:pPr>
              <a:spcBef>
                <a:spcPts val="300"/>
              </a:spcBef>
            </a:pPr>
            <a:endParaRPr sz="16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What it provides: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Availability management, incoming booking view, guest communication, analytics, loyalty programme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What it lacks for independent operators: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QR code door access or role-based access permissions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booking extension management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Operators bound by platform commission structure and content policies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Marketplace gives platform visibility into all transactions — not a private tool</a:t>
            </a:r>
          </a:p>
        </p:txBody>
      </p:sp>
      <p:sp>
        <p:nvSpPr>
          <p:cNvPr id="22533" name="Title 1">
            <a:extLst>
              <a:ext uri="{FF2B5EF4-FFF2-40B4-BE49-F238E27FC236}">
                <a16:creationId xmlns:a16="http://schemas.microsoft.com/office/drawing/2014/main" id="{276947C9-47D1-5648-8900-17862774C10D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(b) Booking.com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60754-07C6-1F4E-B514-5AB9AAE91C96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D945A-FE48-0540-9B33-2E0106C8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CDB752B-93C3-4F44-BF9D-E1389877B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75009257-E31C-604F-B387-F13751EEAA7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D80A1-7F4D-444D-B4DB-05FFA89D3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Agoda is a Southeast Asia-focused OTA (part of Booking Holdings) widely used in Malaysia.</a:t>
            </a:r>
          </a:p>
          <a:p>
            <a:pPr>
              <a:spcBef>
                <a:spcPts val="300"/>
              </a:spcBef>
            </a:pPr>
            <a:endParaRPr sz="16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What it provides: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Localisation for Malaysian market: Bahasa Malaysia, FPX bank transfers, in-platform messaging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761D3E"/>
                </a:solidFill>
              </a:rPr>
              <a:t>What it lacks for independent operators: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QR code door access feature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role and permission management system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 formal booking extension workflow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Same marketplace model as Airbnb and Booking.com — commission-based, public listing</a:t>
            </a:r>
          </a:p>
        </p:txBody>
      </p:sp>
      <p:sp>
        <p:nvSpPr>
          <p:cNvPr id="24581" name="Title 1">
            <a:extLst>
              <a:ext uri="{FF2B5EF4-FFF2-40B4-BE49-F238E27FC236}">
                <a16:creationId xmlns:a16="http://schemas.microsoft.com/office/drawing/2014/main" id="{A6F2F281-6110-0F4C-BEA9-3C28F6969357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chemeClr val="accent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(c) System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A5D12-EE63-0B48-911B-7BC9AFFAD7F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EF33D-3483-8647-8E71-3750C88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sz="4000" b="0">
                <a:solidFill>
                  <a:srgbClr val="761D3E"/>
                </a:solidFill>
              </a:rPr>
              <a:t>(4) Literature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F2404-B452-674C-9C30-2F77B84935B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3D1921-0193-DB40-A78A-4AB6AF66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28674" name="Table 28673"/>
          <p:cNvGraphicFramePr>
            <a:graphicFrameLocks noGrp="1"/>
          </p:cNvGraphicFramePr>
          <p:nvPr/>
        </p:nvGraphicFramePr>
        <p:xfrm>
          <a:off x="256032" y="1691640"/>
          <a:ext cx="84124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Airbnb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Booking.com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Agoda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HomeLodge</a:t>
                      </a:r>
                    </a:p>
                  </a:txBody>
                  <a:tcPr>
                    <a:solidFill>
                      <a:srgbClr val="761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Online availability calendar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Online payment processing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In-app guest-to-host messaging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QR code door access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Booking extension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Role-based access control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Private, non-marketplace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No per-booking commission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E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Immutable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700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0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CDB752B-93C3-4F44-BF9D-E1389877B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75009257-E31C-604F-B387-F13751EEAA7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D80A1-7F4D-444D-B4DB-05FFA89D3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8223" y="2628557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500" b="0" i="0" dirty="0">
                <a:solidFill>
                  <a:srgbClr val="1A1A1A"/>
                </a:solidFill>
              </a:rPr>
              <a:t>Backend:    Laravel 1</a:t>
            </a:r>
            <a:r>
              <a:rPr lang="en-MY" sz="1500" b="0" i="0" dirty="0">
                <a:solidFill>
                  <a:srgbClr val="1A1A1A"/>
                </a:solidFill>
              </a:rPr>
              <a:t>3</a:t>
            </a:r>
            <a:r>
              <a:rPr sz="1500" b="0" i="0" dirty="0">
                <a:solidFill>
                  <a:srgbClr val="1A1A1A"/>
                </a:solidFill>
              </a:rPr>
              <a:t> (PHP 8.</a:t>
            </a:r>
            <a:r>
              <a:rPr lang="en-MY" sz="1500" b="0" i="0" dirty="0">
                <a:solidFill>
                  <a:srgbClr val="1A1A1A"/>
                </a:solidFill>
              </a:rPr>
              <a:t>3</a:t>
            </a:r>
            <a:r>
              <a:rPr sz="1500" b="0" i="0" dirty="0">
                <a:solidFill>
                  <a:srgbClr val="1A1A1A"/>
                </a:solidFill>
              </a:rPr>
              <a:t>) — MVC, built-in ORM, queues, scheduler, first-party packages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Frontend:   Blade (server-rendered) + Alpine.js (client-side state) + Bootstrap 5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Database:   MySQL 8 + Eloquent ORM — relational integrity, atomic transactions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Real-time:  Laravel Reverb (self-hosted WebSocket) + Laravel Echo (JS client)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Auth:       </a:t>
            </a:r>
            <a:r>
              <a:rPr sz="1500" b="0" i="0" dirty="0" err="1">
                <a:solidFill>
                  <a:srgbClr val="1A1A1A"/>
                </a:solidFill>
              </a:rPr>
              <a:t>laravel</a:t>
            </a:r>
            <a:r>
              <a:rPr sz="1500" b="0" i="0" dirty="0">
                <a:solidFill>
                  <a:srgbClr val="1A1A1A"/>
                </a:solidFill>
              </a:rPr>
              <a:t>/breeze + </a:t>
            </a:r>
            <a:r>
              <a:rPr sz="1500" b="0" i="0" dirty="0" err="1">
                <a:solidFill>
                  <a:srgbClr val="1A1A1A"/>
                </a:solidFill>
              </a:rPr>
              <a:t>laravel</a:t>
            </a:r>
            <a:r>
              <a:rPr sz="1500" b="0" i="0" dirty="0">
                <a:solidFill>
                  <a:srgbClr val="1A1A1A"/>
                </a:solidFill>
              </a:rPr>
              <a:t>/socialite (Google OAuth 2.0 SSO)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RBAC:       </a:t>
            </a:r>
            <a:r>
              <a:rPr sz="1500" b="0" i="0" dirty="0" err="1">
                <a:solidFill>
                  <a:srgbClr val="1A1A1A"/>
                </a:solidFill>
              </a:rPr>
              <a:t>spatie</a:t>
            </a:r>
            <a:r>
              <a:rPr sz="1500" b="0" i="0" dirty="0">
                <a:solidFill>
                  <a:srgbClr val="1A1A1A"/>
                </a:solidFill>
              </a:rPr>
              <a:t>/</a:t>
            </a:r>
            <a:r>
              <a:rPr sz="1500" b="0" i="0" dirty="0" err="1">
                <a:solidFill>
                  <a:srgbClr val="1A1A1A"/>
                </a:solidFill>
              </a:rPr>
              <a:t>laravel</a:t>
            </a:r>
            <a:r>
              <a:rPr sz="1500" b="0" i="0" dirty="0">
                <a:solidFill>
                  <a:srgbClr val="1A1A1A"/>
                </a:solidFill>
              </a:rPr>
              <a:t>-permission — database-backed, fine-grained roles/permissions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QR Code:    </a:t>
            </a:r>
            <a:r>
              <a:rPr sz="1500" b="0" i="0" dirty="0" err="1">
                <a:solidFill>
                  <a:srgbClr val="1A1A1A"/>
                </a:solidFill>
              </a:rPr>
              <a:t>simplesoftwareio</a:t>
            </a:r>
            <a:r>
              <a:rPr sz="1500" b="0" i="0" dirty="0">
                <a:solidFill>
                  <a:srgbClr val="1A1A1A"/>
                </a:solidFill>
              </a:rPr>
              <a:t>/simple-</a:t>
            </a:r>
            <a:r>
              <a:rPr sz="1500" b="0" i="0" dirty="0" err="1">
                <a:solidFill>
                  <a:srgbClr val="1A1A1A"/>
                </a:solidFill>
              </a:rPr>
              <a:t>qrcode</a:t>
            </a:r>
            <a:r>
              <a:rPr sz="1500" b="0" i="0" dirty="0">
                <a:solidFill>
                  <a:srgbClr val="1A1A1A"/>
                </a:solidFill>
              </a:rPr>
              <a:t> — local generation, no external API dependency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Payment:    </a:t>
            </a:r>
            <a:r>
              <a:rPr sz="1500" b="0" i="0" dirty="0" err="1">
                <a:solidFill>
                  <a:srgbClr val="1A1A1A"/>
                </a:solidFill>
              </a:rPr>
              <a:t>Billplz</a:t>
            </a:r>
            <a:r>
              <a:rPr sz="1500" b="0" i="0" dirty="0">
                <a:solidFill>
                  <a:srgbClr val="1A1A1A"/>
                </a:solidFill>
              </a:rPr>
              <a:t> / </a:t>
            </a:r>
            <a:r>
              <a:rPr sz="1500" b="0" i="0" dirty="0" err="1">
                <a:solidFill>
                  <a:srgbClr val="1A1A1A"/>
                </a:solidFill>
              </a:rPr>
              <a:t>Toyyibpay</a:t>
            </a:r>
            <a:r>
              <a:rPr sz="1500" b="0" i="0" dirty="0">
                <a:solidFill>
                  <a:srgbClr val="1A1A1A"/>
                </a:solidFill>
              </a:rPr>
              <a:t> / Stripe — webhook-driven, FPX support for Malaysian market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Audit Log:  </a:t>
            </a:r>
            <a:r>
              <a:rPr sz="1500" b="0" i="0" dirty="0" err="1">
                <a:solidFill>
                  <a:srgbClr val="1A1A1A"/>
                </a:solidFill>
              </a:rPr>
              <a:t>spatie</a:t>
            </a:r>
            <a:r>
              <a:rPr sz="1500" b="0" i="0" dirty="0">
                <a:solidFill>
                  <a:srgbClr val="1A1A1A"/>
                </a:solidFill>
              </a:rPr>
              <a:t>/</a:t>
            </a:r>
            <a:r>
              <a:rPr sz="1500" b="0" i="0" dirty="0" err="1">
                <a:solidFill>
                  <a:srgbClr val="1A1A1A"/>
                </a:solidFill>
              </a:rPr>
              <a:t>laravel-activitylog</a:t>
            </a:r>
            <a:r>
              <a:rPr sz="1500" b="0" i="0" dirty="0">
                <a:solidFill>
                  <a:srgbClr val="1A1A1A"/>
                </a:solidFill>
              </a:rPr>
              <a:t> — read-only immutable event records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PDF:        </a:t>
            </a:r>
            <a:r>
              <a:rPr sz="1500" b="0" i="0" dirty="0" err="1">
                <a:solidFill>
                  <a:srgbClr val="1A1A1A"/>
                </a:solidFill>
              </a:rPr>
              <a:t>barryvdh</a:t>
            </a:r>
            <a:r>
              <a:rPr sz="1500" b="0" i="0" dirty="0">
                <a:solidFill>
                  <a:srgbClr val="1A1A1A"/>
                </a:solidFill>
              </a:rPr>
              <a:t>/</a:t>
            </a:r>
            <a:r>
              <a:rPr sz="1500" b="0" i="0" dirty="0" err="1">
                <a:solidFill>
                  <a:srgbClr val="1A1A1A"/>
                </a:solidFill>
              </a:rPr>
              <a:t>laravel-dompdf</a:t>
            </a:r>
            <a:r>
              <a:rPr sz="1500" b="0" i="0" dirty="0">
                <a:solidFill>
                  <a:srgbClr val="1A1A1A"/>
                </a:solidFill>
              </a:rPr>
              <a:t> — bills, receipts, report exports</a:t>
            </a:r>
          </a:p>
        </p:txBody>
      </p:sp>
      <p:sp>
        <p:nvSpPr>
          <p:cNvPr id="24581" name="Title 1">
            <a:extLst>
              <a:ext uri="{FF2B5EF4-FFF2-40B4-BE49-F238E27FC236}">
                <a16:creationId xmlns:a16="http://schemas.microsoft.com/office/drawing/2014/main" id="{A6F2F281-6110-0F4C-BEA9-3C28F6969357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Technologies: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A0887A-AB24-814D-BB9B-557044DB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sz="4000" b="0">
                <a:solidFill>
                  <a:srgbClr val="761D3E"/>
                </a:solidFill>
              </a:rPr>
              <a:t>(5) Methodology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solidFill/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Use this label for each figure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3229841"/>
            <a:ext cx="5351489" cy="2282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C2095B-A3EE-B546-BFCF-117A4CDA1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11919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1" i="0">
                <a:solidFill>
                  <a:srgbClr val="761D3E"/>
                </a:solidFill>
              </a:rPr>
              <a:t>Waterfall — Planning &amp; Analysis: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All functional and non-functional requirements gathered and frozen before coding (URS + PRD)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Complete system design (ER diagram, use cases, UI wireframes) before implementation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Agile (Scrum + Kanban Board) — Implementation &amp; Testing: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11 modules built in time-boxed sprints in dependency order (e.g. Payment after Booking)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Kanban Board states: To Do  -&gt;  In Progress  -&gt;  In Review  -&gt;  Done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Each module tested against acceptance criteria immediately after completion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Waterfall — Deployment: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Sequential checklist: Nginx, PHP-FPM, MySQL, Redis, SSL (Let's Encrypt)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1" i="0">
                <a:solidFill>
                  <a:srgbClr val="555555"/>
                </a:solidFill>
              </a:rPr>
              <a:t>Why hybrid? Waterfall gives the formal PSM documentation. Agile makes 11 modules trackable.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5414B-113B-3E44-B43E-9EF42B24332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47D4E-999C-554C-8B62-7DF27353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7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F88CDE19-ECD6-2844-B5E1-1CD92A3E1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7650" name="Title 1">
            <a:extLst>
              <a:ext uri="{FF2B5EF4-FFF2-40B4-BE49-F238E27FC236}">
                <a16:creationId xmlns:a16="http://schemas.microsoft.com/office/drawing/2014/main" id="{D5270DA2-6A16-E943-8F7E-0333801AB334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85153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(6) System Requirements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2" name="Content Placeholder 4">
            <a:extLst>
              <a:ext uri="{FF2B5EF4-FFF2-40B4-BE49-F238E27FC236}">
                <a16:creationId xmlns:a16="http://schemas.microsoft.com/office/drawing/2014/main" id="{BB847DD2-E3BF-FF4C-B6DB-972D88AE6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 wrap="square"/>
          <a:lstStyle/>
          <a:p>
            <a:pPr marL="0" indent="0" algn="ctr" eaLnBrk="1" hangingPunct="1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sz="1600" b="1" i="0" dirty="0">
                <a:solidFill>
                  <a:srgbClr val="761D3E"/>
                </a:solidFill>
              </a:rPr>
              <a:t>Development Hardware: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Laptop / Desktop — Intel Core i5 or equivalent, 8 GB RAM, 256 GB SSD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Internet — Broadband, minimum 10 Mbps</a:t>
            </a:r>
          </a:p>
          <a:p>
            <a:pPr>
              <a:spcBef>
                <a:spcPts val="300"/>
              </a:spcBef>
            </a:pPr>
            <a:endParaRPr sz="15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</a:rPr>
              <a:t>Deployment Server: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CPU — 2 vCPU minimum (</a:t>
            </a:r>
            <a:r>
              <a:rPr lang="en-MY" sz="1500" b="0" i="0" dirty="0">
                <a:solidFill>
                  <a:srgbClr val="1A1A1A"/>
                </a:solidFill>
              </a:rPr>
              <a:t>Apache</a:t>
            </a:r>
            <a:r>
              <a:rPr sz="1500" b="0" i="0" dirty="0">
                <a:solidFill>
                  <a:srgbClr val="1A1A1A"/>
                </a:solidFill>
              </a:rPr>
              <a:t>, PHP-FPM, Queue Workers, Reverb WebSocket process)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RAM — 2 GB minimum, 4 GB recommended (Redis cache, queue, session)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Storage — 20 GB SSD minimum (database, media uploads, logs)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Smart Lock Device — QR-code-compatible; physical lock installation is outside project scope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1C51D-29C3-AD42-A565-36D87BD4F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16306"/>
              </p:ext>
            </p:extLst>
          </p:nvPr>
        </p:nvGraphicFramePr>
        <p:xfrm>
          <a:off x="1470025" y="2662238"/>
          <a:ext cx="6873875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178">
                  <a:extLst>
                    <a:ext uri="{9D8B030D-6E8A-4147-A177-3AD203B41FA5}">
                      <a16:colId xmlns:a16="http://schemas.microsoft.com/office/drawing/2014/main" val="2143797888"/>
                    </a:ext>
                  </a:extLst>
                </a:gridCol>
                <a:gridCol w="4571697">
                  <a:extLst>
                    <a:ext uri="{9D8B030D-6E8A-4147-A177-3AD203B41FA5}">
                      <a16:colId xmlns:a16="http://schemas.microsoft.com/office/drawing/2014/main" val="100659033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Item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Description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8444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737699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15357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3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2AC291-0458-D84E-AE79-8B6044C05E02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C00601-82FF-7244-9350-D8D9C825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8674" name="Title 1">
            <a:extLst>
              <a:ext uri="{FF2B5EF4-FFF2-40B4-BE49-F238E27FC236}">
                <a16:creationId xmlns:a16="http://schemas.microsoft.com/office/drawing/2014/main" id="{CF110F4B-C9BE-614C-857F-AED05153372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85153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(6) System Requirements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6" name="Content Placeholder 4">
            <a:extLst>
              <a:ext uri="{FF2B5EF4-FFF2-40B4-BE49-F238E27FC236}">
                <a16:creationId xmlns:a16="http://schemas.microsoft.com/office/drawing/2014/main" id="{2127EA70-7652-7A4C-A4EF-7338B42D8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 wrap="square"/>
          <a:lstStyle/>
          <a:p>
            <a:pPr marL="0" indent="0" algn="ctr" eaLnBrk="1" hangingPunct="1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sz="1600" b="1" i="0" dirty="0">
                <a:solidFill>
                  <a:srgbClr val="761D3E"/>
                </a:solidFill>
              </a:rPr>
              <a:t>Development Software: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PHP 8.</a:t>
            </a:r>
            <a:r>
              <a:rPr lang="en-MY" sz="1500" b="0" i="0" dirty="0">
                <a:solidFill>
                  <a:srgbClr val="1A1A1A"/>
                </a:solidFill>
              </a:rPr>
              <a:t>3</a:t>
            </a:r>
            <a:r>
              <a:rPr sz="1500" b="0" i="0" dirty="0">
                <a:solidFill>
                  <a:srgbClr val="1A1A1A"/>
                </a:solidFill>
              </a:rPr>
              <a:t>  |  Composer  |  Node.js 18+ / </a:t>
            </a:r>
            <a:r>
              <a:rPr sz="1500" b="0" i="0" dirty="0" err="1">
                <a:solidFill>
                  <a:srgbClr val="1A1A1A"/>
                </a:solidFill>
              </a:rPr>
              <a:t>npm</a:t>
            </a:r>
            <a:r>
              <a:rPr sz="1500" b="0" i="0" dirty="0">
                <a:solidFill>
                  <a:srgbClr val="1A1A1A"/>
                </a:solidFill>
              </a:rPr>
              <a:t>  |  Git</a:t>
            </a:r>
          </a:p>
          <a:p>
            <a:pPr lvl="1">
              <a:spcBef>
                <a:spcPts val="300"/>
              </a:spcBef>
            </a:pPr>
            <a:r>
              <a:rPr sz="1500" b="0" i="0" dirty="0" err="1">
                <a:solidFill>
                  <a:srgbClr val="1A1A1A"/>
                </a:solidFill>
              </a:rPr>
              <a:t>Laragon</a:t>
            </a:r>
            <a:r>
              <a:rPr sz="1500" b="0" i="0" dirty="0">
                <a:solidFill>
                  <a:srgbClr val="1A1A1A"/>
                </a:solidFill>
              </a:rPr>
              <a:t> (local dev environment — bundles Nginx, MySQL, PHP for Windows)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MySQL 8.x  |  Redis 7.x  |  Visual Studio Code / </a:t>
            </a:r>
            <a:r>
              <a:rPr sz="1500" b="0" i="0" dirty="0" err="1">
                <a:solidFill>
                  <a:srgbClr val="1A1A1A"/>
                </a:solidFill>
              </a:rPr>
              <a:t>PhpStorm</a:t>
            </a:r>
            <a:r>
              <a:rPr sz="1500" b="0" i="0" dirty="0">
                <a:solidFill>
                  <a:srgbClr val="1A1A1A"/>
                </a:solidFill>
              </a:rPr>
              <a:t>  |  Postman  |  </a:t>
            </a:r>
            <a:r>
              <a:rPr sz="1500" b="0" i="0" dirty="0" err="1">
                <a:solidFill>
                  <a:srgbClr val="1A1A1A"/>
                </a:solidFill>
              </a:rPr>
              <a:t>TablePlus</a:t>
            </a:r>
            <a:endParaRPr sz="15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endParaRPr sz="15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 dirty="0">
                <a:solidFill>
                  <a:srgbClr val="761D3E"/>
                </a:solidFill>
              </a:rPr>
              <a:t>Deployment Software: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Ubuntu Server 22.04 LTS  |  Nginx  |  PHP-FPM 8.2  |  Composer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MySQL 8.x  |  Redis 7.x  |  Node.js 18+ (for </a:t>
            </a:r>
            <a:r>
              <a:rPr sz="1500" b="0" i="0" dirty="0" err="1">
                <a:solidFill>
                  <a:srgbClr val="1A1A1A"/>
                </a:solidFill>
              </a:rPr>
              <a:t>npm</a:t>
            </a:r>
            <a:r>
              <a:rPr sz="1500" b="0" i="0" dirty="0">
                <a:solidFill>
                  <a:srgbClr val="1A1A1A"/>
                </a:solidFill>
              </a:rPr>
              <a:t> run build)</a:t>
            </a:r>
          </a:p>
          <a:p>
            <a:pPr lvl="1">
              <a:spcBef>
                <a:spcPts val="300"/>
              </a:spcBef>
            </a:pPr>
            <a:r>
              <a:rPr sz="1500" b="0" i="0" dirty="0">
                <a:solidFill>
                  <a:srgbClr val="1A1A1A"/>
                </a:solidFill>
              </a:rPr>
              <a:t>Let's Encrypt / </a:t>
            </a:r>
            <a:r>
              <a:rPr sz="1500" b="0" i="0" dirty="0" err="1">
                <a:solidFill>
                  <a:srgbClr val="1A1A1A"/>
                </a:solidFill>
              </a:rPr>
              <a:t>Certbot</a:t>
            </a:r>
            <a:r>
              <a:rPr sz="1500" b="0" i="0" dirty="0">
                <a:solidFill>
                  <a:srgbClr val="1A1A1A"/>
                </a:solidFill>
              </a:rPr>
              <a:t> (SSL/TLS certificate)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1C51D-29C3-AD42-A565-36D87BD4F2F9}"/>
              </a:ext>
            </a:extLst>
          </p:cNvPr>
          <p:cNvGraphicFramePr>
            <a:graphicFrameLocks noGrp="1"/>
          </p:cNvGraphicFramePr>
          <p:nvPr/>
        </p:nvGraphicFramePr>
        <p:xfrm>
          <a:off x="1470025" y="2662238"/>
          <a:ext cx="6873875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178">
                  <a:extLst>
                    <a:ext uri="{9D8B030D-6E8A-4147-A177-3AD203B41FA5}">
                      <a16:colId xmlns:a16="http://schemas.microsoft.com/office/drawing/2014/main" val="2143797888"/>
                    </a:ext>
                  </a:extLst>
                </a:gridCol>
                <a:gridCol w="4571697">
                  <a:extLst>
                    <a:ext uri="{9D8B030D-6E8A-4147-A177-3AD203B41FA5}">
                      <a16:colId xmlns:a16="http://schemas.microsoft.com/office/drawing/2014/main" val="100659033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Item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Description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8444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737699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15357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3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59D81C-EBD5-0145-9EC0-9360D14FE89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F6BB6-1939-B848-A3C4-83623B25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6C7ADE3-964F-DA43-9C9E-9A1E5286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1" i="0">
                <a:solidFill>
                  <a:srgbClr val="761D3E"/>
                </a:solidFill>
              </a:rPr>
              <a:t>4 Actors: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Guest (Human) — browses, books, pays, receives QR code, chats, leaves feedback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Admin (Human) — manages units, bookings, users, roles, settings, reports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Payment Gateway (External) — processes payments, sends webhook callbacks to HomeLodge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Google Calendar API (External) — receives booking events upon confirmation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12 Modules  |  47 Use Cases  |  All traced to URS and PRD requirements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Authentication, Homestay Management, Booking, Payment, Notification, Chat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User Management, Role &amp; Permission, System Settings, Audit Logs, QR Code, Reporting &amp; Analytics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555555"/>
                </a:solidFill>
              </a:rPr>
              <a:t>Key workflows: Guest booking flow, Payment flow, Auto-cancellation, QR Code lifecycle, Booking extension flow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5E29F9-3782-1D4C-A672-75BED5997E51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2800" b="1">
                <a:solidFill>
                  <a:srgbClr val="FFC000"/>
                </a:solidFill>
              </a:rPr>
              <a:t>Use Case Model: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87554-25C3-DE40-9C78-765CFAABA627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E7823-DF97-294D-AF44-51E94765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4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solidFill/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System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F3F72-C55A-324D-8F38-75E331CD77D1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8E0DD-CE92-F242-AC4E-A2F46DE1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03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solidFill/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Interface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B8DAF-AE45-9C47-BB44-62ABB99E187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EAA06-374C-3F42-8671-BD37DABA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2A24C-2456-7344-B57A-FABF57DF2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0" i="0" dirty="0">
                <a:solidFill>
                  <a:srgbClr val="555555"/>
                </a:solidFill>
              </a:rPr>
              <a:t>PSM II shifts focus entirely to system development, testing, and deployment.</a:t>
            </a:r>
          </a:p>
          <a:p>
            <a:pPr>
              <a:spcBef>
                <a:spcPts val="300"/>
              </a:spcBef>
            </a:pPr>
            <a:endParaRPr sz="1600" b="0" i="0" dirty="0">
              <a:solidFill>
                <a:srgbClr val="555555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 dirty="0">
                <a:solidFill>
                  <a:srgbClr val="761D3E"/>
                </a:solidFill>
              </a:rPr>
              <a:t>Phase 1 — Environment Setup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1A1A1A"/>
                </a:solidFill>
              </a:rPr>
              <a:t>Configure </a:t>
            </a:r>
            <a:r>
              <a:rPr sz="1400" b="0" i="0" dirty="0" err="1">
                <a:solidFill>
                  <a:srgbClr val="1A1A1A"/>
                </a:solidFill>
              </a:rPr>
              <a:t>Laragon</a:t>
            </a:r>
            <a:r>
              <a:rPr sz="1400" b="0" i="0" dirty="0">
                <a:solidFill>
                  <a:srgbClr val="1A1A1A"/>
                </a:solidFill>
              </a:rPr>
              <a:t> local server, MySQL, Redis, and all Composer + </a:t>
            </a:r>
            <a:r>
              <a:rPr sz="1400" b="0" i="0" dirty="0" err="1">
                <a:solidFill>
                  <a:srgbClr val="1A1A1A"/>
                </a:solidFill>
              </a:rPr>
              <a:t>npm</a:t>
            </a:r>
            <a:r>
              <a:rPr sz="1400" b="0" i="0" dirty="0">
                <a:solidFill>
                  <a:srgbClr val="1A1A1A"/>
                </a:solidFill>
              </a:rPr>
              <a:t> dependencies</a:t>
            </a:r>
          </a:p>
          <a:p>
            <a:pPr>
              <a:spcBef>
                <a:spcPts val="300"/>
              </a:spcBef>
            </a:pPr>
            <a:endParaRPr sz="14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 dirty="0">
                <a:solidFill>
                  <a:srgbClr val="761D3E"/>
                </a:solidFill>
              </a:rPr>
              <a:t>Phase 2 — Backend Development (Agile sprints)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1A1A1A"/>
                </a:solidFill>
              </a:rPr>
              <a:t>Implement all 11 modules in dependency order using Laravel 1</a:t>
            </a:r>
            <a:r>
              <a:rPr lang="en-MY" sz="1400" b="0" i="0" dirty="0">
                <a:solidFill>
                  <a:srgbClr val="1A1A1A"/>
                </a:solidFill>
              </a:rPr>
              <a:t>3</a:t>
            </a:r>
            <a:endParaRPr sz="1400" b="0" i="0" dirty="0">
              <a:solidFill>
                <a:srgbClr val="1A1A1A"/>
              </a:solidFill>
            </a:endParaRP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1A1A1A"/>
                </a:solidFill>
              </a:rPr>
              <a:t>Integrate payment gateway (webhooks), Laravel Reverb (WebSocket), QR code generation</a:t>
            </a:r>
          </a:p>
          <a:p>
            <a:pPr>
              <a:spcBef>
                <a:spcPts val="300"/>
              </a:spcBef>
            </a:pPr>
            <a:endParaRPr sz="14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 dirty="0">
                <a:solidFill>
                  <a:srgbClr val="761D3E"/>
                </a:solidFill>
              </a:rPr>
              <a:t>Phase 3 — Frontend Development (concurrent with backend)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1A1A1A"/>
                </a:solidFill>
              </a:rPr>
              <a:t>Implement wireframes as functional Blade + Alpine.js pages with Bootstrap 5</a:t>
            </a:r>
          </a:p>
          <a:p>
            <a:pPr>
              <a:spcBef>
                <a:spcPts val="300"/>
              </a:spcBef>
            </a:pPr>
            <a:endParaRPr sz="14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 dirty="0">
                <a:solidFill>
                  <a:srgbClr val="761D3E"/>
                </a:solidFill>
              </a:rPr>
              <a:t>Phase 4 — Testing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1A1A1A"/>
                </a:solidFill>
              </a:rPr>
              <a:t>Unit tests, integration tests, and User Acceptance Testing (UAT)</a:t>
            </a:r>
          </a:p>
          <a:p>
            <a:pPr>
              <a:spcBef>
                <a:spcPts val="300"/>
              </a:spcBef>
            </a:pPr>
            <a:endParaRPr sz="1400" b="0" i="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500" b="1" i="0" dirty="0">
                <a:solidFill>
                  <a:srgbClr val="761D3E"/>
                </a:solidFill>
              </a:rPr>
              <a:t>Phase 5 — Deployment</a:t>
            </a:r>
          </a:p>
          <a:p>
            <a:pPr lvl="1">
              <a:spcBef>
                <a:spcPts val="300"/>
              </a:spcBef>
            </a:pPr>
            <a:r>
              <a:rPr sz="1400" b="0" i="0" dirty="0">
                <a:solidFill>
                  <a:srgbClr val="1A1A1A"/>
                </a:solidFill>
              </a:rPr>
              <a:t>Deploy on </a:t>
            </a:r>
            <a:r>
              <a:rPr lang="en-MY" sz="1400" b="0" i="0" dirty="0">
                <a:solidFill>
                  <a:srgbClr val="1A1A1A"/>
                </a:solidFill>
              </a:rPr>
              <a:t>Apache</a:t>
            </a:r>
            <a:r>
              <a:rPr sz="1400" b="0" i="0" dirty="0">
                <a:solidFill>
                  <a:srgbClr val="1A1A1A"/>
                </a:solidFill>
              </a:rPr>
              <a:t> + PHP-FPM + MySQL 8 + Redis; enable SSL with Let's Encrypt</a:t>
            </a:r>
          </a:p>
        </p:txBody>
      </p:sp>
      <p:sp>
        <p:nvSpPr>
          <p:cNvPr id="30722" name="Title 1">
            <a:extLst>
              <a:ext uri="{FF2B5EF4-FFF2-40B4-BE49-F238E27FC236}">
                <a16:creationId xmlns:a16="http://schemas.microsoft.com/office/drawing/2014/main" id="{4249AFB7-3615-A244-84D8-E64241C4B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0723" name="Title 1">
            <a:extLst>
              <a:ext uri="{FF2B5EF4-FFF2-40B4-BE49-F238E27FC236}">
                <a16:creationId xmlns:a16="http://schemas.microsoft.com/office/drawing/2014/main" id="{E374E312-2BA1-F346-B09C-108A913F8760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(8) PSM 2 Planning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183864-A51D-B349-9A64-B2FF9F065F7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F06B58-C939-2648-BE62-66A68FFB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D23EB-BD91-4740-BD79-FEADEA59A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 wrap="square"/>
          <a:lstStyle/>
          <a:p>
            <a:pPr eaLnBrk="1" hangingPunct="1">
              <a:spcBef>
                <a:spcPts val="300"/>
              </a:spcBef>
              <a:spcAft>
                <a:spcPts val="1000"/>
              </a:spcAft>
            </a:pPr>
            <a:r>
              <a:rPr sz="1600" b="1" i="0">
                <a:solidFill>
                  <a:srgbClr val="761D3E"/>
                </a:solidFill>
              </a:rPr>
              <a:t>Problems that led to HomeLodge: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Double-bookings, unstructured payment, physical key dependency, scattered communication across chat threads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Existing platforms are insufficient: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Airbnb, Booking.com, and Agoda handle availability and payment but operate as public marketplaces.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None provides QR door access, booking extensions, fine-grained RBAC, or commission-free private operation.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PSM I deliverables completed: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Complete requirements specification (URS + PRD)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Full system design: architecture, ER diagram (16 tables), UI wireframes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47 use cases across 12 modules documented and traced to requirements</a:t>
            </a:r>
          </a:p>
          <a:p>
            <a:pPr lvl="1">
              <a:spcBef>
                <a:spcPts val="300"/>
              </a:spcBef>
            </a:pPr>
            <a:r>
              <a:rPr sz="1500" b="0" i="0">
                <a:solidFill>
                  <a:srgbClr val="1A1A1A"/>
                </a:solidFill>
              </a:rPr>
              <a:t>Hybrid Waterfall + Agile methodology selected and justified</a:t>
            </a:r>
          </a:p>
          <a:p>
            <a:pPr>
              <a:spcBef>
                <a:spcPts val="300"/>
              </a:spcBef>
            </a:pPr>
            <a:endParaRPr sz="1500" b="0" i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761D3E"/>
                </a:solidFill>
              </a:rPr>
              <a:t>PSM II will implement, test, and deploy HomeLodge.</a:t>
            </a:r>
          </a:p>
        </p:txBody>
      </p:sp>
      <p:sp>
        <p:nvSpPr>
          <p:cNvPr id="31746" name="Title 1">
            <a:extLst>
              <a:ext uri="{FF2B5EF4-FFF2-40B4-BE49-F238E27FC236}">
                <a16:creationId xmlns:a16="http://schemas.microsoft.com/office/drawing/2014/main" id="{F1012C0B-A70B-7A48-96C5-1E9CADB4F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1747" name="Title 1">
            <a:extLst>
              <a:ext uri="{FF2B5EF4-FFF2-40B4-BE49-F238E27FC236}">
                <a16:creationId xmlns:a16="http://schemas.microsoft.com/office/drawing/2014/main" id="{056DD253-C6B2-E14C-9E0A-506E0530104F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sz="4000" b="0">
                <a:solidFill>
                  <a:srgbClr val="761D3E"/>
                </a:solidFill>
              </a:rPr>
              <a:t>(9) Conclusion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53AD8E-84F6-C643-B80B-5E9E74C49BD2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1DC822-69BA-2C40-9607-646E41BB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Content Placeholder 2">
            <a:extLst>
              <a:ext uri="{FF2B5EF4-FFF2-40B4-BE49-F238E27FC236}">
                <a16:creationId xmlns:a16="http://schemas.microsoft.com/office/drawing/2014/main" id="{73C92131-254C-0345-9D75-397BF2A73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662238"/>
            <a:ext cx="9144000" cy="833437"/>
          </a:xfrm>
        </p:spPr>
        <p:txBody>
          <a:bodyPr/>
          <a:lstStyle/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Thank You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2770" name="Title 1">
            <a:extLst>
              <a:ext uri="{FF2B5EF4-FFF2-40B4-BE49-F238E27FC236}">
                <a16:creationId xmlns:a16="http://schemas.microsoft.com/office/drawing/2014/main" id="{70CC7C4A-AD34-0144-8BB1-22D2019D4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2771" name="Title 1">
            <a:extLst>
              <a:ext uri="{FF2B5EF4-FFF2-40B4-BE49-F238E27FC236}">
                <a16:creationId xmlns:a16="http://schemas.microsoft.com/office/drawing/2014/main" id="{88EE2CEE-4C83-B248-8CB3-D1F4F523AF2F}"/>
              </a:ext>
            </a:extLst>
          </p:cNvPr>
          <p:cNvSpPr txBox="1">
            <a:spLocks/>
          </p:cNvSpPr>
          <p:nvPr/>
        </p:nvSpPr>
        <p:spPr bwMode="auto">
          <a:xfrm>
            <a:off x="0" y="3241675"/>
            <a:ext cx="91440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(Question &amp; 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BB666-D3E5-8D41-9641-4B39428F08A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3D9BC-99F5-E741-B9F4-3D0726A5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795</TotalTime>
  <Words>1813</Words>
  <Application>Microsoft Office PowerPoint</Application>
  <PresentationFormat>On-screen Show (4:3)</PresentationFormat>
  <Paragraphs>309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Microsoft Sans Serif</vt:lpstr>
      <vt:lpstr>Office Theme</vt:lpstr>
      <vt:lpstr>PowerPoint Presentation</vt:lpstr>
      <vt:lpstr>Presentation Outlines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Aisyah Umairah</cp:lastModifiedBy>
  <cp:revision>43</cp:revision>
  <dcterms:created xsi:type="dcterms:W3CDTF">2019-01-07T08:53:08Z</dcterms:created>
  <dcterms:modified xsi:type="dcterms:W3CDTF">2026-06-22T01:24:26Z</dcterms:modified>
</cp:coreProperties>
</file>