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259" r:id="rId5"/>
    <p:sldId id="262" r:id="rId7"/>
    <p:sldId id="261" r:id="rId8"/>
    <p:sldId id="265" r:id="rId10"/>
    <p:sldId id="267" r:id="rId12"/>
    <p:sldId id="271" r:id="rId14"/>
    <p:sldId id="280" r:id="rId16"/>
    <p:sldId id="281" r:id="rId17"/>
    <p:sldId id="273" r:id="rId20"/>
    <p:sldId id="274" r:id="rId21"/>
    <p:sldId id="276" r:id="rId23"/>
    <p:sldId id="284" r:id="rId24"/>
    <p:sldId id="277" r:id="rId30"/>
    <p:sldId id="278" r:id="rId31"/>
    <p:sldId id="279" r:id="rId3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4" autoAdjust="0"/>
    <p:restoredTop sz="79895"/>
  </p:normalViewPr>
  <p:slideViewPr>
    <p:cSldViewPr snapToGrid="0">
      <p:cViewPr>
        <p:scale>
          <a:sx n="66" d="100"/>
          <a:sy n="66" d="100"/>
        </p:scale>
        <p:origin x="11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816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B7E44A-2796-A448-A809-412E42B600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D0B0C-895D-A741-978A-D94F3E85C7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9FAA01A3-E2E1-B046-AD82-0E423908EC68}" type="datetimeFigureOut">
              <a:rPr lang="en-US"/>
              <a:pPr>
                <a:defRPr/>
              </a:pPr>
              <a:t>6/21/2026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B6C77B0-BE65-E840-BD25-F6DD6FEF6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F85A73-6438-8542-8FBD-99F8E29AC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ED693-5682-6C4D-A42E-2244674AB8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85578-F1BD-7941-BDE9-F4AFC97FF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C865439-731A-7A44-BC47-F5EBE1510B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C15DD3AA-88EC-1E45-AEB7-6D8E0B530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62BF1496-0106-BF45-8AE4-763C5BD53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spcBef>
                <a:spcPct val="0"/>
              </a:spcBef>
              <a:buFontTx/>
              <a:buChar char="-"/>
            </a:pPr>
            <a:endParaRPr lang="en-MY" altLang="en-US"/>
          </a:p>
          <a:p>
            <a:pPr marL="171450" indent="-171450">
              <a:spcBef>
                <a:spcPct val="0"/>
              </a:spcBef>
              <a:buFontTx/>
              <a:buChar char="-"/>
            </a:pPr>
            <a:endParaRPr lang="en-US" altLang="en-US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7CE56603-3A71-D149-9D9C-CCAD445BD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D333FC-F065-FE49-B2C6-547829BD48B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9DB2D8A4-9957-2545-9749-AE237CF1CE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25912247-BF67-8A41-B0EB-0AD210570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/>
              <a:t>https://engineering.utm.my/computing/psm/psm-1/</a:t>
            </a:r>
          </a:p>
          <a:p>
            <a:pPr>
              <a:spcBef>
                <a:spcPct val="0"/>
              </a:spcBef>
            </a:pPr>
            <a:endParaRPr lang="en-US" altLang="en-US"/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A86C840C-1FDA-FD41-989F-DA7C0A3F49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40D6333-9C40-3A44-B9F6-E11C9B08A64B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6AC0B-CEC1-5345-876A-DA3DC6B9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C0560-C47C-6649-A12E-3B61E2D4AC28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C5F9-FAAD-F34D-9EEC-B0A11EF1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D285A-88B7-B146-8870-D6DD87A8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E71BB-4771-2D48-AB27-A10F97466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50448-6B94-9B43-9D83-BCB85305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BF2F7-72DA-D747-B8E3-0EA76D888BAB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8E41-FB79-FE47-9985-F5414D1E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3D7A-0FAB-A445-BAE2-746364BF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56E91-8DD8-CB4F-8717-4B202AE43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1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D33C3-1668-A04F-B5A8-C21BB860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E889F-53E1-B545-9BD4-B54B4CB290E9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31D2-40B2-C54F-BB66-0AB8D3B7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E9B50-0BA5-794E-B8E8-52130E50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BDD11-724A-5046-8BCE-B9FD25C546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EEB2CA-8169-2E4E-961B-5C1ED76B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758F0-DD9C-DB4C-9D47-C6DB0997BFF3}" type="datetime1">
              <a:rPr lang="en-MY" smtClean="0"/>
              <a:t>21/6/2026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E3DCFA-416C-9D44-9C80-AAC2CE1E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16D591-BFA3-5643-AD0D-EB3EDBDD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BE0FF-A216-0448-A827-D0BB2196D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9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46C6C9-C791-674E-90BB-7775FE4D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DDAF6-77E1-7349-A6ED-8CDFDF897AA0}" type="datetime1">
              <a:rPr lang="en-MY" smtClean="0"/>
              <a:t>21/6/2026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BCB82E-8DC9-3B4B-90EB-889151BE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E2525A6-56CB-9149-8413-7D83EB41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79067-BE0E-0345-90AD-DC8C760A3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1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06B86C-1B9E-3948-8146-1C5BE6CB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3CEE9-EB33-EC41-9BE7-9AD06B9644EA}" type="datetime1">
              <a:rPr lang="en-MY" smtClean="0"/>
              <a:t>21/6/2026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4FAE20-F8A1-484C-928D-9784A644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84461D-789D-4C47-AD9C-DFD01102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8DB84-4DED-574E-B8E4-3F62E3CFD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7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A96D05-CF38-6F41-ABDF-4511A36E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3F7A2-C409-4A43-9248-8DFB2845E2C3}" type="datetime1">
              <a:rPr lang="en-MY" smtClean="0"/>
              <a:t>21/6/2026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3B3C67-DBEB-1E42-A864-A4885B80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0FC28E-8DD6-4D4A-AA99-61EBE843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E59FC-1298-EB48-9193-89A3AB1F9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1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95F1F-147F-0146-9AD4-CEBB065A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F415CA-4A01-B646-8C87-EEEFB04FDF07}" type="datetime1">
              <a:rPr lang="en-MY" smtClean="0"/>
              <a:t>21/6/2026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625ED-7FFD-784A-97FB-FF5B81B1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E017A9-1445-A74F-A986-D9CF6799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B1E1-8AAA-A048-A58A-915E5D470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6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A4E43A-846E-B942-9D36-DEEEF1EF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CDF64-6863-294C-B462-A95E8C9370E9}" type="datetime1">
              <a:rPr lang="en-MY" smtClean="0"/>
              <a:t>21/6/2026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D1FB04-2A92-0440-97DF-A2BC564E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629B72-5AC0-4B40-9569-7C26EE68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FD989-200E-4E4E-A30B-7146FAF5C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8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377A8-0C7F-8848-AEB8-FE3FC16C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8D569-A937-8648-B8D6-74730EA915C9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02E9-6F46-5146-BFE1-898EEEF3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C6634-31A6-BA43-A167-C2185C27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B8B50-3798-6547-8782-FF82EEC331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9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B8AA7-2DC4-1440-A066-0D77E577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BB068-DE33-B74A-B365-B349655278F8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CC1DC-BD32-C443-BF96-C3C1BC89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4B762-B3DB-184D-90A3-5A361184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73BA1-5E39-EF4E-88CC-FB6A95F4D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95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FAC911FD-BA18-C646-ADFB-5026EBF4B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22685850-E511-8D48-A07B-FF9594A14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CC7FD0A6-ED8D-CC43-BC6A-C47DEAAA0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E8802-99DC-534A-AF29-EDC94B9CF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83816C-F657-6D44-B887-15F23335D6AD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49D0C-EDAA-8140-A722-0AD968261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01A96-B640-9846-A96F-AD71468D6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2310" y="-82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71D3E"/>
                </a:solidFill>
                <a:latin typeface="+mn-lt"/>
              </a:defRPr>
            </a:lvl1pPr>
          </a:lstStyle>
          <a:p>
            <a:pPr>
              <a:defRPr/>
            </a:pPr>
            <a:fld id="{DB01B672-90C9-6D42-96F9-411D21DAAC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Box 1">
            <a:extLst>
              <a:ext uri="{FF2B5EF4-FFF2-40B4-BE49-F238E27FC236}">
                <a16:creationId xmlns:a16="http://schemas.microsoft.com/office/drawing/2014/main" id="{86C7DFAC-195D-0446-986C-82C7871E4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52563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sz="2600" b="1" i="0">
                <a:solidFill>
                  <a:srgbClr val="761D3E"/>
                </a:solidFill>
              </a:rPr>
              <a:t>HOMESTAY BOOKING MANAGEMENT SYSTEM</a:t>
            </a:r>
          </a:p>
          <a:p>
            <a:pPr>
              <a:spcBef>
                <a:spcPts val="300"/>
              </a:spcBef>
            </a:pPr>
            <a:r>
              <a:rPr sz="2600" b="1" i="0">
                <a:solidFill>
                  <a:srgbClr val="761D3E"/>
                </a:solidFill>
              </a:rPr>
              <a:t>(HomeLodge)</a:t>
            </a:r>
          </a:p>
        </p:txBody>
      </p:sp>
      <p:sp>
        <p:nvSpPr>
          <p:cNvPr id="13314" name="TextBox 2">
            <a:extLst>
              <a:ext uri="{FF2B5EF4-FFF2-40B4-BE49-F238E27FC236}">
                <a16:creationId xmlns:a16="http://schemas.microsoft.com/office/drawing/2014/main" id="{70E4A7D5-0F76-3943-9045-4541793A4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20975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sz="2200" b="0" i="0">
                <a:solidFill>
                  <a:srgbClr val="000000"/>
                </a:solidFill>
              </a:rPr>
              <a:t>by:</a:t>
            </a:r>
          </a:p>
          <a:p>
            <a:pPr>
              <a:spcBef>
                <a:spcPts val="300"/>
              </a:spcBef>
            </a:pPr>
            <a:r>
              <a:rPr sz="2200" b="0" i="0">
                <a:solidFill>
                  <a:srgbClr val="761D3E"/>
                </a:solidFill>
              </a:rPr>
              <a:t>Aisyah Umairah binti Azmir</a:t>
            </a:r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1E9601D0-CB6A-1E4F-B8B2-CE13A7B31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30675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sz="2200" b="0" i="0">
                <a:solidFill>
                  <a:srgbClr val="000000"/>
                </a:solidFill>
              </a:rPr>
              <a:t>Supervisor:</a:t>
            </a:r>
          </a:p>
          <a:p>
            <a:pPr>
              <a:spcBef>
                <a:spcPts val="300"/>
              </a:spcBef>
            </a:pPr>
            <a:r>
              <a:rPr sz="2200" b="0" i="0">
                <a:solidFill>
                  <a:srgbClr val="761D3E"/>
                </a:solidFill>
              </a:rPr>
              <a:t>Dr. Zalmiyah binti Zakaria</a:t>
            </a:r>
          </a:p>
        </p:txBody>
      </p:sp>
      <p:sp>
        <p:nvSpPr>
          <p:cNvPr id="13316" name="TextBox 4">
            <a:extLst>
              <a:ext uri="{FF2B5EF4-FFF2-40B4-BE49-F238E27FC236}">
                <a16:creationId xmlns:a16="http://schemas.microsoft.com/office/drawing/2014/main" id="{3B48FD71-13F3-6A4E-91B9-E57EAC162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68950"/>
            <a:ext cx="9144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sz="2200" b="0" i="0">
                <a:solidFill>
                  <a:srgbClr val="000000"/>
                </a:solidFill>
              </a:rPr>
              <a:t>22 June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4DA9A-068C-9E40-98C4-3AEA35814859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8FDE6F1A-F070-904E-B4ED-843E3C98B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10382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Presentation Outlines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1F0C4254-53AA-7E46-B78E-1422E41A4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2020888"/>
            <a:ext cx="7886700" cy="4351337"/>
          </a:xfrm>
        </p:spPr>
        <p:txBody>
          <a:bodyPr/>
          <a:lstStyle/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Introduction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Problem Background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Project Aim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Literature Reviews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Methodology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Software/Hardware Requirement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Initial Finding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PSM2 Planning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Conclusion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endParaRPr lang="en-US" altLang="en-US" sz="2200">
              <a:solidFill>
                <a:srgbClr val="76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CFE253-B8E8-FC42-A9A5-48CFCA043C42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1DE300-5FE4-0F46-8A9A-E05592EB7A29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93AA8A-1194-EC41-BCE1-86F24309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4">
            <a:extLst>
              <a:ext uri="{FF2B5EF4-FFF2-40B4-BE49-F238E27FC236}">
                <a16:creationId xmlns:a16="http://schemas.microsoft.com/office/drawing/2014/main" id="{1A81A842-DA7F-9A40-8180-BE8FC1976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225"/>
            <a:ext cx="9144000" cy="655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267C3-8317-0645-AFDA-0287C3FF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91B6-C6CA-2F43-A3A6-A3BE653DD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800" b="1" i="0">
                <a:solidFill>
                  <a:srgbClr val="761D3E"/>
                </a:solidFill>
              </a:rPr>
              <a:t>Latarbelakang Masalah: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555555"/>
                </a:solidFill>
              </a:rPr>
              <a:t>Pengendali homestay yang menguruskan pelbagai unit bergantung kepada kaedah manual: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Tempahan Berganda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rekod ketersediaan dikongsi — dua tetamu menempah tarikh yang sama.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Kutipan Bayaran Manual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resit dan tiada proses bayaran balik yang konsisten.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Penyerahan Kunci Fizikal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Pengendali perlu hadir secara fizikal setiap kali daftar masuk.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Komunikasi Tersebar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Pengesahan dan arahan bayaran terkubur dalam chat peribadi.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Peringatan Manual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Tempahan belum dibayar boleh terlepas pandang.</a:t>
            </a:r>
          </a:p>
        </p:txBody>
      </p:sp>
      <p:sp>
        <p:nvSpPr>
          <p:cNvPr id="15362" name="Title 1">
            <a:extLst>
              <a:ext uri="{FF2B5EF4-FFF2-40B4-BE49-F238E27FC236}">
                <a16:creationId xmlns:a16="http://schemas.microsoft.com/office/drawing/2014/main" id="{B821BC73-4326-FA4E-B5A5-C0DE4763F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5363" name="Title 1">
            <a:extLst>
              <a:ext uri="{FF2B5EF4-FFF2-40B4-BE49-F238E27FC236}">
                <a16:creationId xmlns:a16="http://schemas.microsoft.com/office/drawing/2014/main" id="{84EA59EB-286E-4945-A337-0A66191B64C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(1) Pengenalan Projek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A2A141-956F-8741-B06B-A5460D51298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A2368-0C18-A740-8FE9-AE787CAF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3546AFB1-492A-D14E-AA25-4A1E470E9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6386" name="Title 1">
            <a:extLst>
              <a:ext uri="{FF2B5EF4-FFF2-40B4-BE49-F238E27FC236}">
                <a16:creationId xmlns:a16="http://schemas.microsoft.com/office/drawing/2014/main" id="{DAD6C38C-C5B5-B046-9015-1A16C624DCAC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(2) Problem Background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7079A8-6C75-8C46-8CCF-7614CF5CA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4351338"/>
          </a:xfrm>
        </p:spPr>
        <p:txBody>
          <a:bodyPr/>
          <a:lstStyle/>
          <a:p>
            <a:pPr marL="571500" indent="-571500" eaLnBrk="1" hangingPunct="1">
              <a:spcAft>
                <a:spcPts val="1000"/>
              </a:spcAft>
              <a:buFont typeface="+mj-lt"/>
              <a:buAutoNum type="romanUcPeriod"/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29DEE-EAD8-9F44-93D6-FFC4ED7E011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27FE25-539A-F947-B82D-30E4FF39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64BA058-4B5C-BF45-8C35-06C8E4F8A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7410" name="Title 1">
            <a:extLst>
              <a:ext uri="{FF2B5EF4-FFF2-40B4-BE49-F238E27FC236}">
                <a16:creationId xmlns:a16="http://schemas.microsoft.com/office/drawing/2014/main" id="{8ADA2FDD-AE3C-BE40-9FDD-724A82AD1D4E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(2) Matlamat Projek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A829BA-98C3-6E4E-8DCE-808244566C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8" y="2662238"/>
            <a:ext cx="7078662" cy="2611437"/>
          </a:xfrm>
        </p:spPr>
        <p:txBody>
          <a:bodyPr wrap="square"/>
          <a:lstStyle/>
          <a:p>
            <a:pPr marL="0" indent="0" eaLnBrk="1" hangingPunct="1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sz="1700" b="0" i="0">
                <a:solidFill>
                  <a:srgbClr val="000000"/>
                </a:solidFill>
              </a:rPr>
              <a:t>Membangunkan HomeLodge — sistem pengurusan tempahan homestay berasaskan web yang mendigitalkan proses: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 lvl="1"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</a:rPr>
              <a:t>Tempahan dan ketersediaan</a:t>
            </a:r>
          </a:p>
          <a:p>
            <a:pPr lvl="1"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</a:rPr>
              <a:t>Pembayaran dalam talian dengan bil dan resit automatik</a:t>
            </a:r>
          </a:p>
          <a:p>
            <a:pPr lvl="1"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</a:rPr>
              <a:t>Akses pintu melalui QR code (tanpa penyerahan kunci fizikal)</a:t>
            </a:r>
          </a:p>
          <a:p>
            <a:pPr lvl="1"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</a:rPr>
              <a:t>Chat masa nyata antara tetamu dan admin melalui WebSocket</a:t>
            </a:r>
          </a:p>
          <a:p>
            <a:pPr lvl="1"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</a:rPr>
              <a:t>Kawalan akses berasaskan peranan (RBAC) dan log audit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761D3E"/>
                </a:solidFill>
              </a:rPr>
              <a:t>HomeLodge bukan marketplace.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555555"/>
                </a:solidFill>
              </a:rPr>
              <a:t>Alat pengurusan peribadi — tiada komisen, kawalan penuh, penyenaraian peribadi.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32148-D9B0-4B4A-9A91-CDF128A2D29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6E1DB-EF1C-F94F-9EC2-BD5DE45F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A0ABD6CA-84A3-6E4C-B103-7B49D0ADD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8434" name="Title 1">
            <a:extLst>
              <a:ext uri="{FF2B5EF4-FFF2-40B4-BE49-F238E27FC236}">
                <a16:creationId xmlns:a16="http://schemas.microsoft.com/office/drawing/2014/main" id="{C36BCA40-8AD0-2845-90D5-6994F44C66B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(3) Objektif Projek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A87A89-856A-2C4A-BF20-36D17A206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220913"/>
            <a:ext cx="7062787" cy="3956050"/>
          </a:xfrm>
        </p:spPr>
        <p:txBody>
          <a:bodyPr wrap="square"/>
          <a:lstStyle/>
          <a:p>
            <a:pPr marL="571500" indent="-571500" eaLnBrk="1" hangingPunct="1">
              <a:spcBef>
                <a:spcPts val="300"/>
              </a:spcBef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sz="1600" b="1" i="0">
                <a:solidFill>
                  <a:srgbClr val="761D3E"/>
                </a:solidFill>
              </a:rPr>
              <a:t>01 — Kaji &amp; Analisis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Mengumpul dan mendokumentasikan semua keperluan fungsian dan bukan fungsian.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02 — Reka Bentuk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Menghasilkan seni bina sistem, skema pangkalan data, dan reka bentuk UI.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03 — Pembangunan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Membangunkan aplikasi web HomeLodge dengan 11 modul fungsian.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04 — Pengujian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Mengesahkan ketepatan, keselamatan, dan kebolehgunaan.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 b="1" i="0">
                <a:solidFill>
                  <a:srgbClr val="555555"/>
                </a:solidFill>
              </a:rPr>
              <a:t>Skop: Aplikasi web | 2 peranan (Guest, Admin) | Bahasa Inggeris | 11 modul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555555"/>
                </a:solidFill>
              </a:rPr>
              <a:t>Authentication · Homestay · Booking · Payment · Notification · Chat ·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555555"/>
                </a:solidFill>
              </a:rPr>
              <a:t>User Mgmt · Role &amp; Permission · Settings · Audit Log · QR Code Door 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553D4-8F58-4445-90BA-A2449A5AEC6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0539-F47D-584E-8925-07877BE6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8D139B23-5392-0546-835C-6A107585C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9458" name="Title 1">
            <a:extLst>
              <a:ext uri="{FF2B5EF4-FFF2-40B4-BE49-F238E27FC236}">
                <a16:creationId xmlns:a16="http://schemas.microsoft.com/office/drawing/2014/main" id="{A5F3F925-E333-5B4D-A620-E6DC1AA287FC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(3)</a:t>
            </a: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Project Scopes: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705781-23D9-274F-BA6A-7F5997EDA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220913"/>
            <a:ext cx="7062787" cy="3956050"/>
          </a:xfrm>
        </p:spPr>
        <p:txBody>
          <a:bodyPr/>
          <a:lstStyle/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5ACF7-5323-7E45-BDEC-EFA9F59D796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707B6-E86A-4840-9D13-5BE9826A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097B3F9B-23D5-BB44-BA0B-FB90DBE4F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70729DE1-A37F-3F4C-BA99-32F0E779C64E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Kajian Latarbelakang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140793-8C31-2E4D-AA29-FB5EECF43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Marketplace penginapan dalam talian (ditubuhkan 2008) yang menghubungkan hos dengan tetamu.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Kelebihan: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Kalendar ketersediaan, pembayaran dalam talian, pemesejan, dashboard hos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Kekurangan untuk pengendali bebas: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akses pintu QR code — penyerahan kunci fizikal masih diperlukan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pengurusan lanjutan tempahan dengan aliran pembayaran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Penyenaraian marketplace wajib — tidak boleh menjalankan tempahan peribadi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Komisen per-tempahan dikenakan pada setiap transaksi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RBAC atau log audit kekal</a:t>
            </a:r>
          </a:p>
        </p:txBody>
      </p:sp>
      <p:sp>
        <p:nvSpPr>
          <p:cNvPr id="20485" name="Title 1">
            <a:extLst>
              <a:ext uri="{FF2B5EF4-FFF2-40B4-BE49-F238E27FC236}">
                <a16:creationId xmlns:a16="http://schemas.microsoft.com/office/drawing/2014/main" id="{0B501A74-7D8B-A14C-8A66-A575034CB864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(a) Airbnb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B9914-13B9-D145-9DB6-7C4F5A6C4AA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FEB48-E1A1-A245-905C-4681B06A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49A9AE12-BEA0-654C-B340-D5F1BF1EB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E07EF1-C0A5-3F4C-8C4E-65C23B2D379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5AC90A-0B77-7241-89B5-049E5CCCA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1895475"/>
            <a:ext cx="7062787" cy="428148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Continue from previous slide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not use this, just hide or delete this slide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45AA8-8D74-4543-B4BF-9E57E85B302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B39BE-69AA-BD4F-9E4E-7981A8C4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F54CF817-EF14-1F4B-88FD-5D18270E8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2530" name="Title 1">
            <a:extLst>
              <a:ext uri="{FF2B5EF4-FFF2-40B4-BE49-F238E27FC236}">
                <a16:creationId xmlns:a16="http://schemas.microsoft.com/office/drawing/2014/main" id="{97252585-5FE7-CB47-B476-08278FE232B5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Kajian Latarbelakang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25BD10-5F85-0243-A151-E57340000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OTA global digunakan oleh penyedia penginapan dari hotel besar hingga rumah tamu kecil.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Kelebihan: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Pengurusan ketersediaan, paparan tempahan, komunikasi tetamu, analitik, program kesetiaan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Kekurangan untuk pengendali bebas: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akses pintu QR code atau kebenaran akses berasaskan peranan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pengurusan lanjutan tempahan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Pengendali terikat dengan struktur komisen dan polisi kandungan platform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Marketplace memberikan keterlihatan platform ke semua transaksi — bukan alat peribadi</a:t>
            </a:r>
          </a:p>
        </p:txBody>
      </p:sp>
      <p:sp>
        <p:nvSpPr>
          <p:cNvPr id="22533" name="Title 1">
            <a:extLst>
              <a:ext uri="{FF2B5EF4-FFF2-40B4-BE49-F238E27FC236}">
                <a16:creationId xmlns:a16="http://schemas.microsoft.com/office/drawing/2014/main" id="{276947C9-47D1-5648-8900-17862774C10D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(b) Booking.com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60754-07C6-1F4E-B514-5AB9AAE91C96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D945A-FE48-0540-9B33-2E0106C8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130E6CA1-6C9F-1747-A64A-532ABA7A7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E07EF1-C0A5-3F4C-8C4E-65C23B2D379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513FBB-09DB-754F-BFA2-C9998F2DDE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1895475"/>
            <a:ext cx="7062787" cy="428148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Continue from previous slide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not use this, just hide or delete this slide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31CE5-DCEA-434B-B136-E4324D4078C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474C3-4B8C-DE45-BEE9-1B79CA6B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CDB752B-93C3-4F44-BF9D-E1389877B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75009257-E31C-604F-B387-F13751EEAA7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Kajian Latarbelakang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D80A1-7F4D-444D-B4DB-05FFA89D3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OTA berfokus Asia Tenggara (sebahagian Booking Holdings), popular di Malaysia.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Kelebihan: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Penyetempatan pasaran Malaysia: Bahasa Malaysia, pemindahan bank FPX, pemesejan dalam platform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Kekurangan untuk pengendali bebas: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ciri akses pintu QR code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sistem pengurusan peranan dan kebenaran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aliran kerja lanjutan tempahan formal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Model marketplace yang sama — berasaskan komisen, penyenaraian awam</a:t>
            </a:r>
          </a:p>
        </p:txBody>
      </p:sp>
      <p:sp>
        <p:nvSpPr>
          <p:cNvPr id="24581" name="Title 1">
            <a:extLst>
              <a:ext uri="{FF2B5EF4-FFF2-40B4-BE49-F238E27FC236}">
                <a16:creationId xmlns:a16="http://schemas.microsoft.com/office/drawing/2014/main" id="{A6F2F281-6110-0F4C-BEA9-3C28F6969357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(c) Agoda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A5D12-EE63-0B48-911B-7BC9AFFAD7F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EF33D-3483-8647-8E71-3750C88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84DFACD7-B780-4149-9A33-2E6FF3650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E07EF1-C0A5-3F4C-8C4E-65C23B2D379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5637C3-B01B-DC49-8F72-0CA93313F1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1895475"/>
            <a:ext cx="7062787" cy="428148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Continue from previous slide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not use this, just hide or delete this slide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A940A-20AD-9146-B325-F67ED67850F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C7096-A71F-584F-88EB-5D3DB849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sz="4000" b="0">
                <a:solidFill>
                  <a:srgbClr val="761D3E"/>
                </a:solidFill>
              </a:rPr>
              <a:t>(4) Kajian Latarbelakang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F2404-B452-674C-9C30-2F77B84935B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3D1921-0193-DB40-A78A-4AB6AF66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28674" name="Table 28673"/>
          <p:cNvGraphicFramePr>
            <a:graphicFrameLocks noGrp="1"/>
          </p:cNvGraphicFramePr>
          <p:nvPr/>
        </p:nvGraphicFramePr>
        <p:xfrm>
          <a:off x="256032" y="1691640"/>
          <a:ext cx="84124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1280160"/>
                <a:gridCol w="1280160"/>
                <a:gridCol w="137160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Ciri / Feature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Airbnb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Booking.com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Agoda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HomeLodge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Kalendar ketersediaan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Pembayaran dalam talian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Pemesejan tetamu-ke-hos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Akses pintu QR code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Lanjutan tempahan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RBAC (kawalan akses peranan)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Operasi peribadi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Tiada komisen per-tempahan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Log audit kekal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07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CDB752B-93C3-4F44-BF9D-E1389877B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75009257-E31C-604F-B387-F13751EEAA7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(5) Metodologi Pembangunan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D80A1-7F4D-444D-B4DB-05FFA89D3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700" b="1" i="0">
                <a:solidFill>
                  <a:srgbClr val="761D3E"/>
                </a:solidFill>
              </a:rPr>
              <a:t>Pendekatan Hibrid: Waterfall + Agile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Waterfall — Perancangan &amp; Analisis: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Keperluan fungsian dan bukan fungsian dikumpul dan ditetapkan sebelum pengkodan (URS + PRD)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Reka bentuk sistem lengkap (ER diagram, use cases, wireframe UI) sebelum pembangunan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Agile (Scrum + Kanban) — Pembangunan &amp; Pengujian: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11 modul dibina dalam sprint berperingkat mengikut urutan kebergantungan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Kanban Board: To Do  →  In Progress  →  In Review  →  Done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Setiap modul diuji terhadap kriteria penerimaan selepas siap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Waterfall — Pelancaran: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Senarai semak berurutan: Nginx, PHP-FPM, MySQL, Redis, SSL (Let's Encrypt)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1" i="0">
                <a:solidFill>
                  <a:srgbClr val="555555"/>
                </a:solidFill>
              </a:rPr>
              <a:t>Mengapa hibrid? Waterfall untuk dokumentasi formal PSM. Agile untuk 11 modul yang boleh dijejak.</a:t>
            </a:r>
          </a:p>
        </p:txBody>
      </p:sp>
      <p:sp>
        <p:nvSpPr>
          <p:cNvPr id="24581" name="Title 1">
            <a:extLst>
              <a:ext uri="{FF2B5EF4-FFF2-40B4-BE49-F238E27FC236}">
                <a16:creationId xmlns:a16="http://schemas.microsoft.com/office/drawing/2014/main" id="{A6F2F281-6110-0F4C-BEA9-3C28F6969357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/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A0887A-AB24-814D-BB9B-557044DB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Use this label for each figure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3229841"/>
            <a:ext cx="5351489" cy="2282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C2095B-A3EE-B546-BFCF-117A4CDA1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11919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5414B-113B-3E44-B43E-9EF42B24332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47D4E-999C-554C-8B62-7DF27353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7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The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3229841"/>
            <a:ext cx="5351489" cy="2282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C2095B-A3EE-B546-BFCF-117A4CDA1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11919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You may copy paste this slide for extended information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35A10-BF4E-8542-BCA3-772EE77EB49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322EBE-A49C-2343-AA16-D8DBAAE7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BD7B-A6C7-DF40-A524-9E0B68A25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</a:p>
        </p:txBody>
      </p:sp>
      <p:sp>
        <p:nvSpPr>
          <p:cNvPr id="26626" name="Title 1">
            <a:extLst>
              <a:ext uri="{FF2B5EF4-FFF2-40B4-BE49-F238E27FC236}">
                <a16:creationId xmlns:a16="http://schemas.microsoft.com/office/drawing/2014/main" id="{9C4A5D38-4DC2-E54F-A61D-F1584452D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6627" name="Title 1">
            <a:extLst>
              <a:ext uri="{FF2B5EF4-FFF2-40B4-BE49-F238E27FC236}">
                <a16:creationId xmlns:a16="http://schemas.microsoft.com/office/drawing/2014/main" id="{F639C795-FE8D-7243-A5E4-A28FE16147A6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(6) Spesifikasi Keperluan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E90E8D0-9526-1648-B7D2-90CCBA0A86D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14DE3-BD23-8949-A00F-8AE47646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26628" name="Table 26627"/>
          <p:cNvGraphicFramePr>
            <a:graphicFrameLocks noGrp="1"/>
          </p:cNvGraphicFramePr>
          <p:nvPr/>
        </p:nvGraphicFramePr>
        <p:xfrm>
          <a:off x="457200" y="1828800"/>
          <a:ext cx="81381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92608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Komponen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Spesifikasi Pembangunan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Spesifikasi Pelayan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Pemproses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Intel Core i5 atau setaraf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 vCPU 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RAM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 GB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4 GB (min 2 GB)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Storan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256 GB 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20 GB SSD 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Internet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Broadband, min 10 Mbps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Peranti Tambahan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Smart Lock serasi QR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F88CDE19-ECD6-2844-B5E1-1CD92A3E1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7650" name="Title 1">
            <a:extLst>
              <a:ext uri="{FF2B5EF4-FFF2-40B4-BE49-F238E27FC236}">
                <a16:creationId xmlns:a16="http://schemas.microsoft.com/office/drawing/2014/main" id="{D5270DA2-6A16-E943-8F7E-0333801AB334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85153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(6) Spesifikasi Keperluan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2" name="Content Placeholder 4">
            <a:extLst>
              <a:ext uri="{FF2B5EF4-FFF2-40B4-BE49-F238E27FC236}">
                <a16:creationId xmlns:a16="http://schemas.microsoft.com/office/drawing/2014/main" id="{BB847DD2-E3BF-FF4C-B6DB-972D88AE6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 wrap="square"/>
          <a:lstStyle/>
          <a:p>
            <a:pPr marL="0" indent="0" algn="ctr" eaLnBrk="1" hangingPunct="1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sz="1500" b="0" i="0">
                <a:solidFill>
                  <a:srgbClr val="1A1A1A"/>
                </a:solidFill>
              </a:rPr>
              <a:t>Backend:    Laravel 11 (PHP 8.2) — MVC, ORM, queues, scheduler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Frontend:   Blade (server-rendered) + Alpine.js + Bootstrap 5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Database:   MySQL 8 + Eloquent ORM — keutuhan relasional, transaksi atomik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Real-time:  Laravel Reverb (WebSocket) + Laravel Echo (klien JS)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Auth:       laravel/breeze + laravel/socialite (Google OAuth 2.0 SSO)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RBAC:       spatie/laravel-permission — peranan/kebenaran berasaskan pangkalan data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QR Code:    simplesoftwareio/simple-qrcode — penjanaan lokal, tiada API luaran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Payment:    Billplz / Toyyibpay / Stripe — webhook-driven, sokongan FPX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Audit Log:  spatie/laravel-activitylog — rekod peristiwa kekal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PDF:        barryvdh/laravel-dompdf — bil, resit, eksport laporan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AC291-0458-D84E-AE79-8B6044C05E02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C00601-82FF-7244-9350-D8D9C825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8674" name="Title 1">
            <a:extLst>
              <a:ext uri="{FF2B5EF4-FFF2-40B4-BE49-F238E27FC236}">
                <a16:creationId xmlns:a16="http://schemas.microsoft.com/office/drawing/2014/main" id="{CF110F4B-C9BE-614C-857F-AED05153372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85153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(6) Software/Hardware Requirement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6" name="Content Placeholder 4">
            <a:extLst>
              <a:ext uri="{FF2B5EF4-FFF2-40B4-BE49-F238E27FC236}">
                <a16:creationId xmlns:a16="http://schemas.microsoft.com/office/drawing/2014/main" id="{2127EA70-7652-7A4C-A4EF-7338B42D8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Table: Hardware requirement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1C51D-29C3-AD42-A565-36D87BD4F2F9}"/>
              </a:ext>
            </a:extLst>
          </p:cNvPr>
          <p:cNvGraphicFramePr>
            <a:graphicFrameLocks noGrp="1"/>
          </p:cNvGraphicFramePr>
          <p:nvPr/>
        </p:nvGraphicFramePr>
        <p:xfrm>
          <a:off x="1470025" y="2662238"/>
          <a:ext cx="6873875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178">
                  <a:extLst>
                    <a:ext uri="{9D8B030D-6E8A-4147-A177-3AD203B41FA5}">
                      <a16:colId xmlns:a16="http://schemas.microsoft.com/office/drawing/2014/main" val="2143797888"/>
                    </a:ext>
                  </a:extLst>
                </a:gridCol>
                <a:gridCol w="4571697">
                  <a:extLst>
                    <a:ext uri="{9D8B030D-6E8A-4147-A177-3AD203B41FA5}">
                      <a16:colId xmlns:a16="http://schemas.microsoft.com/office/drawing/2014/main" val="100659033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Item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Description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8444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737699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15357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3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59D81C-EBD5-0145-9EC0-9360D14FE89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F6BB6-1939-B848-A3C4-83623B25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0343-384A-D548-87CE-4BC61986E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700" b="1" i="0">
                <a:solidFill>
                  <a:srgbClr val="761D3E"/>
                </a:solidFill>
              </a:rPr>
              <a:t>Model Use-Case: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4 Aktor: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Guest (Manusia) — layari, tempah, bayar, terima QR code, chat, beri maklum balas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Admin (Manusia) — urus unit, tempahan, pengguna, peranan, tetapan, laporan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Payment Gateway (Luaran) — proses pembayaran, hantar webhook callbacks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Google Calendar API (Luaran) — terima peristiwa tempahan selepas pengesahan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12 Modul  |  47 Use Cases  |  Semua dijejak kepada keperluan URS dan PRD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Authentication, Homestay, Booking, Payment, Notification, Chat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User Mgmt, Role &amp; Permission, Settings, Audit Logs, QR Code, Reporting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55555"/>
                </a:solidFill>
              </a:rPr>
              <a:t>Aliran utama: Tempahan tetamu, Pembayaran, Auto-pembatalan, Kitaran QR Code, Lanjutan tempahan</a:t>
            </a: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C2BCE7AE-F503-2E44-AF50-6B5DD5AFE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9699" name="Title 1">
            <a:extLst>
              <a:ext uri="{FF2B5EF4-FFF2-40B4-BE49-F238E27FC236}">
                <a16:creationId xmlns:a16="http://schemas.microsoft.com/office/drawing/2014/main" id="{DAC7401B-A77A-8E42-A658-98E2CC790ED4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(7) Hasil Perlaksanaan PSM 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2BDAB7-321D-6F4B-87EB-F29EBD67AB4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85B563-AF52-CC4F-87D9-2D9F86AE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6C7ADE3-964F-DA43-9C9E-9A1E5286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500" b="1" i="0">
                <a:solidFill>
                  <a:srgbClr val="761D3E"/>
                </a:solidFill>
              </a:rPr>
              <a:t>Seni Bina (MVC + Service Layer):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Client: Blade + Alpine.js + Bootstrap 5 + Laravel Echo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Server: Nginx → PHP-FPM → Laravel 11 | Queue Worker | Scheduler | Reverb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Data: MySQL 8 (primer) | Redis 7 (cache, queues, sessions)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External: Payment Gateway | Google OAuth + Calendar | SMTP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Reka Bentuk Pangkalan Data: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17 entiti | MySQL 8 + Eloquent ORM | FK constraints + soft deletes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Jadual utama: bookings, booking_extensions, payments, qr_codes, bills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settings (key-value model — tiada migrasi skema untuk konfigurasi baru)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Webhook idempotent melalui indeks gateway_reference unik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Reka Bentuk Antara Muka: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Guest: top navbar, aliran linear (layari → tempah → bayar → QR code)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Admin: sidebar kiri tetap, 10 kumpulan navigasi, responsif (mobile/tablet/desktop)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5E29F9-3782-1D4C-A672-75BED5997E51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Reka Bentuk Sistem: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(7) Hasil Perlaksanaan PSM 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87554-25C3-DE40-9C78-765CFAABA627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E7823-DF97-294D-AF44-51E94765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4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System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F3F72-C55A-324D-8F38-75E331CD77D1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8E0DD-CE92-F242-AC4E-A2F46DE1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03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Use case diagram (main)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F16B5-34CF-2247-A87A-F53F49C5B6F7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E6BAD-9355-DA4A-AC1E-293E60EE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80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Sequence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0AA79-7978-A843-AC3B-2410D3C361F1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DAC74-7D7C-0041-819C-BF32837D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46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6C7ADE3-964F-DA43-9C9E-9A1E5286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5E29F9-3782-1D4C-A672-75BED5997E51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C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System Interfaces: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B804C-88A8-7046-88DB-40E6F073F14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DF6ECC-8D13-6047-925E-1E48B684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Interface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B8DAF-AE45-9C47-BB44-62ABB99E187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EAA06-374C-3F42-8671-BD37DABA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4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2A24C-2456-7344-B57A-FABF57DF2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</a:rPr>
              <a:t>PSM II memfokuskan sepenuhnya kepada pembangunan, pengujian, dan pelancaran sistem.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Fasa 1 — Persediaan Persekitaran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Konfigurasi Laragon, MySQL, Redis, dan semua dependensi Composer + npm</a:t>
            </a:r>
          </a:p>
          <a:p>
            <a:pPr>
              <a:spcBef>
                <a:spcPts val="300"/>
              </a:spcBef>
            </a:pPr>
            <a:r>
              <a:rPr sz="4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Fasa 2 — Pembangunan Backend (Sprint Agile)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Bina semua 11 modul mengikut urutan kebergantungan menggunakan Laravel 11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Integrasi payment gateway (webhooks), Laravel Reverb (WebSocket), penjanaan QR code</a:t>
            </a:r>
          </a:p>
          <a:p>
            <a:pPr>
              <a:spcBef>
                <a:spcPts val="300"/>
              </a:spcBef>
            </a:pPr>
            <a:r>
              <a:rPr sz="4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Fasa 3 — Pembangunan Frontend (serentak dengan backend)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Pelaksanaan wireframe sebagai halaman Blade + Alpine.js dengan Bootstrap 5</a:t>
            </a:r>
          </a:p>
          <a:p>
            <a:pPr>
              <a:spcBef>
                <a:spcPts val="300"/>
              </a:spcBef>
            </a:pPr>
            <a:r>
              <a:rPr sz="4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Fasa 4 — Pengujian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Unit test, integration test, dan User Acceptance Testing (UAT)</a:t>
            </a:r>
          </a:p>
          <a:p>
            <a:pPr>
              <a:spcBef>
                <a:spcPts val="300"/>
              </a:spcBef>
            </a:pPr>
            <a:r>
              <a:rPr sz="4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Fasa 5 — Pelancaran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Deploy pada Nginx + PHP-FPM + MySQL 8 + Redis; aktifkan SSL dengan Let's Encrypt</a:t>
            </a:r>
          </a:p>
        </p:txBody>
      </p:sp>
      <p:sp>
        <p:nvSpPr>
          <p:cNvPr id="30722" name="Title 1">
            <a:extLst>
              <a:ext uri="{FF2B5EF4-FFF2-40B4-BE49-F238E27FC236}">
                <a16:creationId xmlns:a16="http://schemas.microsoft.com/office/drawing/2014/main" id="{4249AFB7-3615-A244-84D8-E64241C4B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0723" name="Title 1">
            <a:extLst>
              <a:ext uri="{FF2B5EF4-FFF2-40B4-BE49-F238E27FC236}">
                <a16:creationId xmlns:a16="http://schemas.microsoft.com/office/drawing/2014/main" id="{E374E312-2BA1-F346-B09C-108A913F8760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(8) Perancangan PSM II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183864-A51D-B349-9A64-B2FF9F065F7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F06B58-C939-2648-BE62-66A68FFB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D23EB-BD91-4740-BD79-FEADEA59A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1" i="0">
                <a:solidFill>
                  <a:srgbClr val="761D3E"/>
                </a:solidFill>
              </a:rPr>
              <a:t>Rumusan Masalah: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Tempahan berganda, kutipan bayaran manual, penyerahan kunci fizikal, komunikasi tersebar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Platform sedia ada tidak mencukupi: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Airbnb, Booking.com, dan Agoda mengendalikan ketersediaan dan pembayaran tetapi beroperasi sebagai marketplace awam.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Tiada akses pintu QR, lanjutan tempahan, RBAC halus, atau operasi peribadi tanpa komisen.</a:t>
            </a:r>
          </a:p>
          <a:p>
            <a:pPr>
              <a:spcBef>
                <a:spcPts val="300"/>
              </a:spcBef>
            </a:pPr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Hasil PSM I yang telah disiapkan: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Spesifikasi keperluan lengkap (URS + PRD)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Reka bentuk sistem penuh: seni bina, ER diagram (17 entiti), wireframe UI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47 use cases merentasi 12 modul didokumentasikan dan dijejak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Metodologi hibrid Waterfall + Agile dipilih dan dijustifikasikan</a:t>
            </a:r>
          </a:p>
          <a:p>
            <a:pPr lvl="1">
              <a:spcBef>
                <a:spcPts val="300"/>
              </a:spcBef>
            </a:pPr>
            <a:r>
              <a:rPr sz="1400" b="0" i="0">
                <a:solidFill>
                  <a:srgbClr val="1A1A1A"/>
                </a:solidFill>
              </a:rPr>
              <a:t>Stack teknologi dinilai dan dipilih</a:t>
            </a:r>
          </a:p>
          <a:p>
            <a:pPr>
              <a:spcBef>
                <a:spcPts val="300"/>
              </a:spcBef>
            </a:pPr>
            <a:r>
              <a:rPr sz="800" b="0" i="0">
                <a:solidFill>
                  <a:srgbClr val="00000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PSM II akan melaksanakan, menguji, dan melancarkan HomeLodge.</a:t>
            </a:r>
          </a:p>
        </p:txBody>
      </p:sp>
      <p:sp>
        <p:nvSpPr>
          <p:cNvPr id="31746" name="Title 1">
            <a:extLst>
              <a:ext uri="{FF2B5EF4-FFF2-40B4-BE49-F238E27FC236}">
                <a16:creationId xmlns:a16="http://schemas.microsoft.com/office/drawing/2014/main" id="{F1012C0B-A70B-7A48-96C5-1E9CADB4F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1747" name="Title 1">
            <a:extLst>
              <a:ext uri="{FF2B5EF4-FFF2-40B4-BE49-F238E27FC236}">
                <a16:creationId xmlns:a16="http://schemas.microsoft.com/office/drawing/2014/main" id="{056DD253-C6B2-E14C-9E0A-506E0530104F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(9) Penutup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53AD8E-84F6-C643-B80B-5E9E74C49BD2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1DC822-69BA-2C40-9607-646E41BB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Content Placeholder 2">
            <a:extLst>
              <a:ext uri="{FF2B5EF4-FFF2-40B4-BE49-F238E27FC236}">
                <a16:creationId xmlns:a16="http://schemas.microsoft.com/office/drawing/2014/main" id="{73C92131-254C-0345-9D75-397BF2A73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662238"/>
            <a:ext cx="9144000" cy="833437"/>
          </a:xfrm>
        </p:spPr>
        <p:txBody>
          <a:bodyPr/>
          <a:lstStyle/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Thank You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2770" name="Title 1">
            <a:extLst>
              <a:ext uri="{FF2B5EF4-FFF2-40B4-BE49-F238E27FC236}">
                <a16:creationId xmlns:a16="http://schemas.microsoft.com/office/drawing/2014/main" id="{70CC7C4A-AD34-0144-8BB1-22D2019D4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2771" name="Title 1">
            <a:extLst>
              <a:ext uri="{FF2B5EF4-FFF2-40B4-BE49-F238E27FC236}">
                <a16:creationId xmlns:a16="http://schemas.microsoft.com/office/drawing/2014/main" id="{88EE2CEE-4C83-B248-8CB3-D1F4F523AF2F}"/>
              </a:ext>
            </a:extLst>
          </p:cNvPr>
          <p:cNvSpPr txBox="1">
            <a:spLocks/>
          </p:cNvSpPr>
          <p:nvPr/>
        </p:nvSpPr>
        <p:spPr bwMode="auto">
          <a:xfrm>
            <a:off x="0" y="3241675"/>
            <a:ext cx="91440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(Question &amp; 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BB666-D3E5-8D41-9641-4B39428F08A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3D9BC-99F5-E741-B9F4-3D0726A5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567</Words>
  <Application>Microsoft Office PowerPoint</Application>
  <PresentationFormat>On-screen Show (4:3)</PresentationFormat>
  <Paragraphs>206</Paragraphs>
  <Slides>31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Microsoft Sans Serif</vt:lpstr>
      <vt:lpstr>Office Theme</vt:lpstr>
      <vt:lpstr>PowerPoint Presentation</vt:lpstr>
      <vt:lpstr>Presentation Outlines</vt:lpstr>
      <vt:lpstr>PowerPoint Presentation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Aisyah Umairah</cp:lastModifiedBy>
  <cp:revision>31</cp:revision>
  <dcterms:created xsi:type="dcterms:W3CDTF">2019-01-07T08:53:08Z</dcterms:created>
  <dcterms:modified xsi:type="dcterms:W3CDTF">2026-06-21T11:51:26Z</dcterms:modified>
</cp:coreProperties>
</file>